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Helvetica Neue"/>
      <p:regular r:id="rId23"/>
      <p:bold r:id="rId24"/>
      <p:italic r:id="rId25"/>
      <p:boldItalic r:id="rId26"/>
    </p:embeddedFont>
    <p:embeddedFont>
      <p:font typeface="Roboto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HelveticaNeue-bold.fntdata"/><Relationship Id="rId23" Type="http://schemas.openxmlformats.org/officeDocument/2006/relationships/font" Target="fonts/HelveticaNeue-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HelveticaNeue-boldItalic.fntdata"/><Relationship Id="rId25" Type="http://schemas.openxmlformats.org/officeDocument/2006/relationships/font" Target="fonts/HelveticaNeue-italic.fntdata"/><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Mono-italic.fntdata"/><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font" Target="fonts/RobotoMono-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8816ab8e3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g3c8816ab8e3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g3c8816ab8e3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8816ab8e3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3c8816ab8e3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SG">
                <a:solidFill>
                  <a:schemeClr val="dk1"/>
                </a:solidFill>
              </a:rPr>
              <a:t>Ultrasound imaging is a radiation free, non-invasive diagnostic tool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SG">
                <a:solidFill>
                  <a:schemeClr val="dk1"/>
                </a:solidFill>
              </a:rPr>
              <a:t>But there is a gap between what ultrasound offers and what clinicians and researchers can extract from it1.</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SG">
                <a:solidFill>
                  <a:schemeClr val="dk1"/>
                </a:solidFill>
              </a:rPr>
              <a:t>Simplifying ultrasound scans into interpretable representations requires extensive manual annotations.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SG">
                <a:solidFill>
                  <a:schemeClr val="dk1"/>
                </a:solidFill>
              </a:rPr>
              <a:t>Segmentation requires each image to have a mask drawn by an expert.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SG">
                <a:solidFill>
                  <a:schemeClr val="dk1"/>
                </a:solidFill>
              </a:rPr>
              <a:t>This is hard in resource limited environments2</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122" name="Google Shape;122;g3c8816ab8e3_0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c8816ab8e3_0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c8816ab8e3_0_2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c8816ab8e3_0_2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8816ab8e3_0_3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c8816ab8e3_0_3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c8816ab8e3_0_3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8816ab8e3_0_3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3c8816ab8e3_0_3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SG">
                <a:solidFill>
                  <a:schemeClr val="dk1"/>
                </a:solidFill>
              </a:rPr>
              <a:t>two sonographers</a:t>
            </a:r>
            <a:endParaRPr/>
          </a:p>
        </p:txBody>
      </p:sp>
      <p:sp>
        <p:nvSpPr>
          <p:cNvPr id="156" name="Google Shape;156;g3c8816ab8e3_0_3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8816ab8e3_0_10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c8816ab8e3_0_10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SG">
                <a:solidFill>
                  <a:schemeClr val="dk1"/>
                </a:solidFill>
              </a:rPr>
              <a:t>two sonographers</a:t>
            </a:r>
            <a:endParaRPr/>
          </a:p>
        </p:txBody>
      </p:sp>
      <p:sp>
        <p:nvSpPr>
          <p:cNvPr id="167" name="Google Shape;167;g3c8816ab8e3_0_10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8816ab8e3_0_101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SG">
                <a:solidFill>
                  <a:schemeClr val="dk1"/>
                </a:solidFill>
              </a:rPr>
              <a:t>fully supervised learning - the ideal annotation where there is paired image-mask sample.</a:t>
            </a:r>
            <a:endParaRPr>
              <a:solidFill>
                <a:schemeClr val="dk1"/>
              </a:solidFill>
            </a:endParaRPr>
          </a:p>
          <a:p>
            <a:pPr indent="-298450" lvl="0" marL="457200" rtl="0" algn="l">
              <a:spcBef>
                <a:spcPts val="0"/>
              </a:spcBef>
              <a:spcAft>
                <a:spcPts val="0"/>
              </a:spcAft>
              <a:buClr>
                <a:schemeClr val="dk1"/>
              </a:buClr>
              <a:buSzPts val="1100"/>
              <a:buChar char="-"/>
            </a:pPr>
            <a:r>
              <a:rPr lang="en-SG">
                <a:solidFill>
                  <a:schemeClr val="dk1"/>
                </a:solidFill>
              </a:rPr>
              <a:t>unpaired cyclegan learning - addresses the challenge of no labelled data - it shows labelling constraint. </a:t>
            </a:r>
            <a:endParaRPr>
              <a:solidFill>
                <a:schemeClr val="dk1"/>
              </a:solidFill>
            </a:endParaRPr>
          </a:p>
          <a:p>
            <a:pPr indent="-298450" lvl="0" marL="457200" rtl="0" algn="l">
              <a:spcBef>
                <a:spcPts val="0"/>
              </a:spcBef>
              <a:spcAft>
                <a:spcPts val="0"/>
              </a:spcAft>
              <a:buClr>
                <a:schemeClr val="dk1"/>
              </a:buClr>
              <a:buSzPts val="1100"/>
              <a:buChar char="-"/>
            </a:pPr>
            <a:r>
              <a:rPr lang="en-SG">
                <a:solidFill>
                  <a:schemeClr val="dk1"/>
                </a:solidFill>
              </a:rPr>
              <a:t>semi supervised (hybrid) learning - shows limited paired data in the presence of abundant unlabelled data. </a:t>
            </a:r>
            <a:endParaRPr/>
          </a:p>
        </p:txBody>
      </p:sp>
      <p:sp>
        <p:nvSpPr>
          <p:cNvPr id="176" name="Google Shape;176;g3c8816ab8e3_0_10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8816ab8e3_0_5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g3c8816ab8e3_0_5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SG">
                <a:solidFill>
                  <a:schemeClr val="dk1"/>
                </a:solidFill>
              </a:rPr>
              <a:t>mimics the ideal annotation scenario where there is paired-image mask.</a:t>
            </a:r>
            <a:endParaRPr/>
          </a:p>
        </p:txBody>
      </p:sp>
      <p:sp>
        <p:nvSpPr>
          <p:cNvPr id="184" name="Google Shape;184;g3c8816ab8e3_0_5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c8816ab8e3_0_5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c8816ab8e3_0_5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Clr>
                <a:schemeClr val="dk1"/>
              </a:buClr>
              <a:buSzPts val="1600"/>
              <a:buChar char="-"/>
            </a:pPr>
            <a:r>
              <a:rPr lang="en-SG" sz="1600">
                <a:solidFill>
                  <a:schemeClr val="dk1"/>
                </a:solidFill>
              </a:rPr>
              <a:t>No paired data scenario.</a:t>
            </a:r>
            <a:endParaRPr sz="1600">
              <a:solidFill>
                <a:schemeClr val="dk1"/>
              </a:solidFill>
            </a:endParaRPr>
          </a:p>
          <a:p>
            <a:pPr indent="-330200" lvl="0" marL="457200" rtl="0" algn="l">
              <a:spcBef>
                <a:spcPts val="0"/>
              </a:spcBef>
              <a:spcAft>
                <a:spcPts val="0"/>
              </a:spcAft>
              <a:buClr>
                <a:schemeClr val="dk1"/>
              </a:buClr>
              <a:buSzPts val="1600"/>
              <a:buChar char="-"/>
            </a:pPr>
            <a:r>
              <a:rPr lang="en-SG" sz="1600">
                <a:solidFill>
                  <a:schemeClr val="dk1"/>
                </a:solidFill>
              </a:rPr>
              <a:t>The generator creates synthetic data to mimic a real dataset, while the discriminator acts as a classifier, attempting to distinguish between real data and the generator's fake, synthetic output.</a:t>
            </a:r>
            <a:endParaRPr sz="1600">
              <a:solidFill>
                <a:schemeClr val="dk1"/>
              </a:solidFill>
            </a:endParaRPr>
          </a:p>
          <a:p>
            <a:pPr indent="-330200" lvl="0" marL="457200" rtl="0" algn="l">
              <a:spcBef>
                <a:spcPts val="0"/>
              </a:spcBef>
              <a:spcAft>
                <a:spcPts val="0"/>
              </a:spcAft>
              <a:buClr>
                <a:schemeClr val="dk1"/>
              </a:buClr>
              <a:buSzPts val="1600"/>
              <a:buChar char="-"/>
            </a:pPr>
            <a:r>
              <a:rPr lang="en-SG" sz="1600">
                <a:solidFill>
                  <a:schemeClr val="dk1"/>
                </a:solidFill>
              </a:rPr>
              <a:t>Identity loss was omitted for multiclass due to the fundamental incompatibility between</a:t>
            </a:r>
            <a:endParaRPr sz="1600">
              <a:solidFill>
                <a:schemeClr val="dk1"/>
              </a:solidFill>
            </a:endParaRPr>
          </a:p>
          <a:p>
            <a:pPr indent="0" lvl="0" marL="457200" rtl="0" algn="l">
              <a:spcBef>
                <a:spcPts val="0"/>
              </a:spcBef>
              <a:spcAft>
                <a:spcPts val="0"/>
              </a:spcAft>
              <a:buNone/>
            </a:pPr>
            <a:r>
              <a:rPr lang="en-SG" sz="1600">
                <a:solidFill>
                  <a:schemeClr val="dk1"/>
                </a:solidFill>
              </a:rPr>
              <a:t>continuous ultrasound and discrete one-hot label representations.</a:t>
            </a:r>
            <a:endParaRPr>
              <a:solidFill>
                <a:schemeClr val="dk1"/>
              </a:solidFill>
            </a:endParaRPr>
          </a:p>
        </p:txBody>
      </p:sp>
      <p:sp>
        <p:nvSpPr>
          <p:cNvPr id="204" name="Google Shape;204;g3c8816ab8e3_0_5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c8816ab8e3_0_6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c8816ab8e3_0_6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Clr>
                <a:schemeClr val="dk1"/>
              </a:buClr>
              <a:buSzPts val="1100"/>
              <a:buChar char="-"/>
            </a:pPr>
            <a:r>
              <a:rPr lang="en-SG">
                <a:solidFill>
                  <a:schemeClr val="dk1"/>
                </a:solidFill>
              </a:rPr>
              <a:t>mimics where there is limited ground truth in the presence of abundant unlabeled data</a:t>
            </a:r>
            <a:endParaRPr>
              <a:solidFill>
                <a:schemeClr val="dk1"/>
              </a:solidFill>
            </a:endParaRPr>
          </a:p>
          <a:p>
            <a:pPr indent="-298450" lvl="0" marL="457200" rtl="0" algn="l">
              <a:spcBef>
                <a:spcPts val="0"/>
              </a:spcBef>
              <a:spcAft>
                <a:spcPts val="0"/>
              </a:spcAft>
              <a:buClr>
                <a:schemeClr val="dk1"/>
              </a:buClr>
              <a:buSzPts val="1100"/>
              <a:buChar char="-"/>
            </a:pPr>
            <a:r>
              <a:rPr lang="en-SG">
                <a:solidFill>
                  <a:schemeClr val="dk1"/>
                </a:solidFill>
              </a:rPr>
              <a:t>answers if incorporating a few annotations could meaningfully boost segmentation esp when all data remained unpaired. </a:t>
            </a:r>
            <a:endParaRPr>
              <a:solidFill>
                <a:schemeClr val="dk1"/>
              </a:solidFill>
            </a:endParaRPr>
          </a:p>
        </p:txBody>
      </p:sp>
      <p:sp>
        <p:nvSpPr>
          <p:cNvPr id="237" name="Google Shape;237;g3c8816ab8e3_0_6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8816ab8e3_0_69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c8816ab8e3_0_6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c8816ab8e3_0_70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c8816ab8e3_0_7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8816ab8e3_0_8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c8816ab8e3_0_8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c8816ab8e3_0_8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c8816ab8e3_0_10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c8816ab8e3_0_10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SG"/>
              <a:t>Performance scaling with paired annotations.</a:t>
            </a:r>
            <a:endParaRPr/>
          </a:p>
        </p:txBody>
      </p:sp>
      <p:sp>
        <p:nvSpPr>
          <p:cNvPr id="300" name="Google Shape;300;g3c8816ab8e3_0_10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c8816ab8e3_0_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3c8816ab8e3_0_8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SG"/>
              <a:t>Predictions improve left-to-right as paired samples increase.</a:t>
            </a:r>
            <a:endParaRPr/>
          </a:p>
        </p:txBody>
      </p:sp>
      <p:sp>
        <p:nvSpPr>
          <p:cNvPr id="310" name="Google Shape;310;g3c8816ab8e3_0_8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c8816ab8e3_0_10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g3c8816ab8e3_0_10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SG"/>
              <a:t> Determine whether unpaired approaches can produce clinically useful segmentations. </a:t>
            </a:r>
            <a:endParaRPr/>
          </a:p>
          <a:p>
            <a:pPr indent="-298450" lvl="0" marL="457200" rtl="0" algn="l">
              <a:spcBef>
                <a:spcPts val="0"/>
              </a:spcBef>
              <a:spcAft>
                <a:spcPts val="0"/>
              </a:spcAft>
              <a:buSzPts val="1100"/>
              <a:buChar char="-"/>
            </a:pPr>
            <a:r>
              <a:rPr lang="en-SG"/>
              <a:t>Quantify the minimum annotation required for viable simplification.</a:t>
            </a:r>
            <a:endParaRPr/>
          </a:p>
          <a:p>
            <a:pPr indent="-298450" lvl="0" marL="457200" rtl="0" algn="l">
              <a:spcBef>
                <a:spcPts val="0"/>
              </a:spcBef>
              <a:spcAft>
                <a:spcPts val="0"/>
              </a:spcAft>
              <a:buSzPts val="1100"/>
              <a:buChar char="-"/>
            </a:pPr>
            <a:r>
              <a:rPr lang="en-SG"/>
              <a:t>Determine how segmentation complexity fundamentally reshapes these requirements.</a:t>
            </a:r>
            <a:endParaRPr/>
          </a:p>
        </p:txBody>
      </p:sp>
      <p:sp>
        <p:nvSpPr>
          <p:cNvPr id="321" name="Google Shape;321;g3c8816ab8e3_0_10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c8816ab8e3_0_10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SG" sz="1800">
                <a:solidFill>
                  <a:schemeClr val="dk1"/>
                </a:solidFill>
                <a:latin typeface="Helvetica Neue"/>
                <a:ea typeface="Helvetica Neue"/>
                <a:cs typeface="Helvetica Neue"/>
                <a:sym typeface="Helvetica Neue"/>
              </a:rPr>
              <a:t>by reconstructing the volumetric image of the relevant anatomy and co-register the image to a CT or MRI of the anatomy. Perform simplification once on the CT or MR image, then find the slice of the simplified 3D image of an arbitrary US using the transformation computed during registration. </a:t>
            </a:r>
            <a:endParaRPr/>
          </a:p>
        </p:txBody>
      </p:sp>
      <p:sp>
        <p:nvSpPr>
          <p:cNvPr id="331" name="Google Shape;331;g3c8816ab8e3_0_10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c8816ab8e3_0_9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c8816ab8e3_0_9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SG">
                <a:solidFill>
                  <a:schemeClr val="dk1"/>
                </a:solidFill>
              </a:rPr>
              <a:t>mimics the ideal annotation scenario where there is paired-image mask.</a:t>
            </a:r>
            <a:endParaRPr/>
          </a:p>
        </p:txBody>
      </p:sp>
      <p:sp>
        <p:nvSpPr>
          <p:cNvPr id="340" name="Google Shape;340;g3c8816ab8e3_0_9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80" name="Shape 80"/>
        <p:cNvGrpSpPr/>
        <p:nvPr/>
      </p:nvGrpSpPr>
      <p:grpSpPr>
        <a:xfrm>
          <a:off x="0" y="0"/>
          <a:ext cx="0" cy="0"/>
          <a:chOff x="0" y="0"/>
          <a:chExt cx="0" cy="0"/>
        </a:xfrm>
      </p:grpSpPr>
      <p:pic>
        <p:nvPicPr>
          <p:cNvPr id="81" name="Google Shape;81;p13"/>
          <p:cNvPicPr preferRelativeResize="0"/>
          <p:nvPr/>
        </p:nvPicPr>
        <p:blipFill rotWithShape="1">
          <a:blip r:embed="rId2">
            <a:alphaModFix/>
          </a:blip>
          <a:srcRect b="0" l="0" r="0" t="0"/>
          <a:stretch/>
        </p:blipFill>
        <p:spPr>
          <a:xfrm>
            <a:off x="-23297" y="0"/>
            <a:ext cx="12257661" cy="6881830"/>
          </a:xfrm>
          <a:prstGeom prst="rect">
            <a:avLst/>
          </a:prstGeom>
          <a:noFill/>
          <a:ln>
            <a:noFill/>
          </a:ln>
        </p:spPr>
      </p:pic>
      <p:sp>
        <p:nvSpPr>
          <p:cNvPr id="82" name="Google Shape;82;p13"/>
          <p:cNvSpPr txBox="1"/>
          <p:nvPr>
            <p:ph type="ctrTitle"/>
          </p:nvPr>
        </p:nvSpPr>
        <p:spPr>
          <a:xfrm>
            <a:off x="763200" y="1088115"/>
            <a:ext cx="9192000" cy="238770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4300"/>
              <a:buFont typeface="Arial"/>
              <a:buNone/>
              <a:defRPr b="1" sz="4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3"/>
          <p:cNvSpPr txBox="1"/>
          <p:nvPr>
            <p:ph idx="1" type="subTitle"/>
          </p:nvPr>
        </p:nvSpPr>
        <p:spPr>
          <a:xfrm>
            <a:off x="763200" y="3580131"/>
            <a:ext cx="9192000" cy="16557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84" name="Google Shape;84;p13"/>
          <p:cNvPicPr preferRelativeResize="0"/>
          <p:nvPr/>
        </p:nvPicPr>
        <p:blipFill rotWithShape="1">
          <a:blip r:embed="rId3">
            <a:alphaModFix/>
          </a:blip>
          <a:srcRect b="0" l="0" r="0" t="0"/>
          <a:stretch/>
        </p:blipFill>
        <p:spPr>
          <a:xfrm>
            <a:off x="9955075" y="5763492"/>
            <a:ext cx="2236924" cy="109450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p:cSld name="Content Slide">
    <p:spTree>
      <p:nvGrpSpPr>
        <p:cNvPr id="85" name="Shape 85"/>
        <p:cNvGrpSpPr/>
        <p:nvPr/>
      </p:nvGrpSpPr>
      <p:grpSpPr>
        <a:xfrm>
          <a:off x="0" y="0"/>
          <a:ext cx="0" cy="0"/>
          <a:chOff x="0" y="0"/>
          <a:chExt cx="0" cy="0"/>
        </a:xfrm>
      </p:grpSpPr>
      <p:pic>
        <p:nvPicPr>
          <p:cNvPr descr="A red surface with a black background&#10;&#10;Description automatically generated with medium confidence" id="86" name="Google Shape;86;p14"/>
          <p:cNvPicPr preferRelativeResize="0"/>
          <p:nvPr/>
        </p:nvPicPr>
        <p:blipFill rotWithShape="1">
          <a:blip r:embed="rId2">
            <a:alphaModFix/>
          </a:blip>
          <a:srcRect b="0" l="0" r="0" t="0"/>
          <a:stretch/>
        </p:blipFill>
        <p:spPr>
          <a:xfrm>
            <a:off x="-26896" y="-8964"/>
            <a:ext cx="12239997" cy="6885000"/>
          </a:xfrm>
          <a:prstGeom prst="rect">
            <a:avLst/>
          </a:prstGeom>
          <a:noFill/>
          <a:ln>
            <a:noFill/>
          </a:ln>
        </p:spPr>
      </p:pic>
      <p:sp>
        <p:nvSpPr>
          <p:cNvPr id="87" name="Google Shape;87;p14"/>
          <p:cNvSpPr txBox="1"/>
          <p:nvPr>
            <p:ph idx="1" type="body"/>
          </p:nvPr>
        </p:nvSpPr>
        <p:spPr>
          <a:xfrm>
            <a:off x="714000" y="1624331"/>
            <a:ext cx="10740900" cy="4158300"/>
          </a:xfrm>
          <a:prstGeom prst="rect">
            <a:avLst/>
          </a:prstGeom>
          <a:noFill/>
          <a:ln>
            <a:noFill/>
          </a:ln>
        </p:spPr>
        <p:txBody>
          <a:bodyPr anchorCtr="0" anchor="t" bIns="0" lIns="0" spcFirstLastPara="1" rIns="0" wrap="square" tIns="0">
            <a:noAutofit/>
          </a:bodyPr>
          <a:lstStyle>
            <a:lvl1pPr indent="-381000" lvl="0" marL="457200" algn="l">
              <a:lnSpc>
                <a:spcPct val="90000"/>
              </a:lnSpc>
              <a:spcBef>
                <a:spcPts val="1000"/>
              </a:spcBef>
              <a:spcAft>
                <a:spcPts val="0"/>
              </a:spcAft>
              <a:buClr>
                <a:schemeClr val="accent1"/>
              </a:buClr>
              <a:buSzPts val="2400"/>
              <a:buFont typeface="Arial"/>
              <a:buChar char="•"/>
              <a:defRPr sz="2400"/>
            </a:lvl1pPr>
            <a:lvl2pPr indent="-381000" lvl="1" marL="914400" algn="l">
              <a:lnSpc>
                <a:spcPct val="90000"/>
              </a:lnSpc>
              <a:spcBef>
                <a:spcPts val="800"/>
              </a:spcBef>
              <a:spcAft>
                <a:spcPts val="0"/>
              </a:spcAft>
              <a:buClr>
                <a:schemeClr val="accent1"/>
              </a:buClr>
              <a:buSzPts val="2400"/>
              <a:buFont typeface="Arial"/>
              <a:buChar char="•"/>
              <a:defRPr sz="2400"/>
            </a:lvl2pPr>
            <a:lvl3pPr indent="-381000" lvl="2" marL="1371600" algn="l">
              <a:lnSpc>
                <a:spcPct val="90000"/>
              </a:lnSpc>
              <a:spcBef>
                <a:spcPts val="500"/>
              </a:spcBef>
              <a:spcAft>
                <a:spcPts val="0"/>
              </a:spcAft>
              <a:buClr>
                <a:schemeClr val="accent1"/>
              </a:buClr>
              <a:buSzPts val="2400"/>
              <a:buFont typeface="Arial"/>
              <a:buChar char="•"/>
              <a:defRPr sz="2400"/>
            </a:lvl3pPr>
            <a:lvl4pPr indent="-381000" lvl="3" marL="1828800" algn="l">
              <a:lnSpc>
                <a:spcPct val="90000"/>
              </a:lnSpc>
              <a:spcBef>
                <a:spcPts val="500"/>
              </a:spcBef>
              <a:spcAft>
                <a:spcPts val="0"/>
              </a:spcAft>
              <a:buClr>
                <a:schemeClr val="accent1"/>
              </a:buClr>
              <a:buSzPts val="2400"/>
              <a:buFont typeface="Arial"/>
              <a:buChar char="•"/>
              <a:defRPr sz="2400"/>
            </a:lvl4pPr>
            <a:lvl5pPr indent="-381000" lvl="4" marL="2286000" algn="l">
              <a:lnSpc>
                <a:spcPct val="90000"/>
              </a:lnSpc>
              <a:spcBef>
                <a:spcPts val="500"/>
              </a:spcBef>
              <a:spcAft>
                <a:spcPts val="0"/>
              </a:spcAft>
              <a:buClr>
                <a:schemeClr val="accent1"/>
              </a:buClr>
              <a:buSzPts val="2400"/>
              <a:buFont typeface="Arial"/>
              <a:buChar char="•"/>
              <a:defRPr sz="2400"/>
            </a:lvl5pPr>
            <a:lvl6pPr indent="-381000" lvl="5" marL="2743200" algn="l">
              <a:lnSpc>
                <a:spcPct val="90000"/>
              </a:lnSpc>
              <a:spcBef>
                <a:spcPts val="500"/>
              </a:spcBef>
              <a:spcAft>
                <a:spcPts val="0"/>
              </a:spcAft>
              <a:buClr>
                <a:schemeClr val="dk1"/>
              </a:buClr>
              <a:buSzPts val="2400"/>
              <a:buChar char="•"/>
              <a:defRPr/>
            </a:lvl6pPr>
            <a:lvl7pPr indent="-381000" lvl="6" marL="3200400" algn="l">
              <a:lnSpc>
                <a:spcPct val="90000"/>
              </a:lnSpc>
              <a:spcBef>
                <a:spcPts val="500"/>
              </a:spcBef>
              <a:spcAft>
                <a:spcPts val="0"/>
              </a:spcAft>
              <a:buClr>
                <a:schemeClr val="dk1"/>
              </a:buClr>
              <a:buSzPts val="2400"/>
              <a:buChar char="•"/>
              <a:defRPr/>
            </a:lvl7pPr>
            <a:lvl8pPr indent="-381000" lvl="7" marL="3657600" algn="l">
              <a:lnSpc>
                <a:spcPct val="90000"/>
              </a:lnSpc>
              <a:spcBef>
                <a:spcPts val="500"/>
              </a:spcBef>
              <a:spcAft>
                <a:spcPts val="0"/>
              </a:spcAft>
              <a:buClr>
                <a:schemeClr val="dk1"/>
              </a:buClr>
              <a:buSzPts val="2400"/>
              <a:buChar char="•"/>
              <a:defRPr/>
            </a:lvl8pPr>
            <a:lvl9pPr indent="-381000" lvl="8" marL="4114800" algn="l">
              <a:lnSpc>
                <a:spcPct val="90000"/>
              </a:lnSpc>
              <a:spcBef>
                <a:spcPts val="500"/>
              </a:spcBef>
              <a:spcAft>
                <a:spcPts val="0"/>
              </a:spcAft>
              <a:buClr>
                <a:schemeClr val="dk1"/>
              </a:buClr>
              <a:buSzPts val="2400"/>
              <a:buChar char="•"/>
              <a:defRPr/>
            </a:lvl9pPr>
          </a:lstStyle>
          <a:p/>
        </p:txBody>
      </p:sp>
      <p:pic>
        <p:nvPicPr>
          <p:cNvPr id="88" name="Google Shape;88;p14"/>
          <p:cNvPicPr preferRelativeResize="0"/>
          <p:nvPr/>
        </p:nvPicPr>
        <p:blipFill rotWithShape="1">
          <a:blip r:embed="rId3">
            <a:alphaModFix/>
          </a:blip>
          <a:srcRect b="0" l="0" r="0" t="0"/>
          <a:stretch/>
        </p:blipFill>
        <p:spPr>
          <a:xfrm>
            <a:off x="9955075" y="5763492"/>
            <a:ext cx="2236924" cy="1094508"/>
          </a:xfrm>
          <a:prstGeom prst="rect">
            <a:avLst/>
          </a:prstGeom>
          <a:noFill/>
          <a:ln>
            <a:noFill/>
          </a:ln>
        </p:spPr>
      </p:pic>
      <p:sp>
        <p:nvSpPr>
          <p:cNvPr id="89" name="Google Shape;89;p14"/>
          <p:cNvSpPr txBox="1"/>
          <p:nvPr>
            <p:ph type="title"/>
          </p:nvPr>
        </p:nvSpPr>
        <p:spPr>
          <a:xfrm>
            <a:off x="761999" y="576792"/>
            <a:ext cx="10740900" cy="96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90" name="Shape 90"/>
        <p:cNvGrpSpPr/>
        <p:nvPr/>
      </p:nvGrpSpPr>
      <p:grpSpPr>
        <a:xfrm>
          <a:off x="0" y="0"/>
          <a:ext cx="0" cy="0"/>
          <a:chOff x="0" y="0"/>
          <a:chExt cx="0" cy="0"/>
        </a:xfrm>
      </p:grpSpPr>
      <p:pic>
        <p:nvPicPr>
          <p:cNvPr id="91" name="Google Shape;91;p15"/>
          <p:cNvPicPr preferRelativeResize="0"/>
          <p:nvPr/>
        </p:nvPicPr>
        <p:blipFill rotWithShape="1">
          <a:blip r:embed="rId2">
            <a:alphaModFix/>
          </a:blip>
          <a:srcRect b="0" l="0" r="0" t="0"/>
          <a:stretch/>
        </p:blipFill>
        <p:spPr>
          <a:xfrm>
            <a:off x="-78069" y="-38243"/>
            <a:ext cx="12288000" cy="6911999"/>
          </a:xfrm>
          <a:prstGeom prst="rect">
            <a:avLst/>
          </a:prstGeom>
          <a:noFill/>
          <a:ln>
            <a:noFill/>
          </a:ln>
        </p:spPr>
      </p:pic>
      <p:sp>
        <p:nvSpPr>
          <p:cNvPr id="92" name="Google Shape;92;p15"/>
          <p:cNvSpPr txBox="1"/>
          <p:nvPr>
            <p:ph type="ctrTitle"/>
          </p:nvPr>
        </p:nvSpPr>
        <p:spPr>
          <a:xfrm>
            <a:off x="631859" y="2403052"/>
            <a:ext cx="9323100" cy="98790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4300"/>
              <a:buFont typeface="Arial"/>
              <a:buNone/>
              <a:defRPr b="1" sz="4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5"/>
          <p:cNvSpPr txBox="1"/>
          <p:nvPr>
            <p:ph idx="1" type="subTitle"/>
          </p:nvPr>
        </p:nvSpPr>
        <p:spPr>
          <a:xfrm>
            <a:off x="631860" y="3482937"/>
            <a:ext cx="9323100" cy="15213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94" name="Google Shape;94;p15"/>
          <p:cNvPicPr preferRelativeResize="0"/>
          <p:nvPr/>
        </p:nvPicPr>
        <p:blipFill rotWithShape="1">
          <a:blip r:embed="rId3">
            <a:alphaModFix/>
          </a:blip>
          <a:srcRect b="0" l="0" r="0" t="0"/>
          <a:stretch/>
        </p:blipFill>
        <p:spPr>
          <a:xfrm>
            <a:off x="9955075" y="5763492"/>
            <a:ext cx="2236924" cy="109450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New Section">
  <p:cSld name="2_New Section">
    <p:spTree>
      <p:nvGrpSpPr>
        <p:cNvPr id="95" name="Shape 95"/>
        <p:cNvGrpSpPr/>
        <p:nvPr/>
      </p:nvGrpSpPr>
      <p:grpSpPr>
        <a:xfrm>
          <a:off x="0" y="0"/>
          <a:ext cx="0" cy="0"/>
          <a:chOff x="0" y="0"/>
          <a:chExt cx="0" cy="0"/>
        </a:xfrm>
      </p:grpSpPr>
      <p:pic>
        <p:nvPicPr>
          <p:cNvPr id="96" name="Google Shape;96;p16"/>
          <p:cNvPicPr preferRelativeResize="0"/>
          <p:nvPr/>
        </p:nvPicPr>
        <p:blipFill rotWithShape="1">
          <a:blip r:embed="rId2">
            <a:alphaModFix/>
          </a:blip>
          <a:srcRect b="2799" l="0" r="0" t="0"/>
          <a:stretch/>
        </p:blipFill>
        <p:spPr>
          <a:xfrm>
            <a:off x="-8965" y="-8965"/>
            <a:ext cx="12239998" cy="6885000"/>
          </a:xfrm>
          <a:prstGeom prst="rect">
            <a:avLst/>
          </a:prstGeom>
          <a:noFill/>
          <a:ln>
            <a:noFill/>
          </a:ln>
        </p:spPr>
      </p:pic>
      <p:sp>
        <p:nvSpPr>
          <p:cNvPr id="97" name="Google Shape;97;p16"/>
          <p:cNvSpPr txBox="1"/>
          <p:nvPr>
            <p:ph type="ctrTitle"/>
          </p:nvPr>
        </p:nvSpPr>
        <p:spPr>
          <a:xfrm>
            <a:off x="763200" y="561531"/>
            <a:ext cx="7616700" cy="238770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lt1"/>
              </a:buClr>
              <a:buSzPts val="3700"/>
              <a:buFont typeface="Arial"/>
              <a:buNone/>
              <a:defRPr b="1" sz="3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6"/>
          <p:cNvSpPr txBox="1"/>
          <p:nvPr>
            <p:ph idx="1" type="subTitle"/>
          </p:nvPr>
        </p:nvSpPr>
        <p:spPr>
          <a:xfrm>
            <a:off x="763200" y="3041205"/>
            <a:ext cx="7616700" cy="16557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SzPts val="2400"/>
              <a:buNone/>
              <a:defRPr sz="2400">
                <a:solidFill>
                  <a:schemeClr val="lt1"/>
                </a:solidFil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99" name="Google Shape;99;p16"/>
          <p:cNvPicPr preferRelativeResize="0"/>
          <p:nvPr/>
        </p:nvPicPr>
        <p:blipFill rotWithShape="1">
          <a:blip r:embed="rId3">
            <a:alphaModFix/>
          </a:blip>
          <a:srcRect b="0" l="0" r="0" t="0"/>
          <a:stretch/>
        </p:blipFill>
        <p:spPr>
          <a:xfrm>
            <a:off x="9370707" y="5477565"/>
            <a:ext cx="2821293" cy="138043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Wave Above">
  <p:cSld name="Content Slide - Wave Above">
    <p:spTree>
      <p:nvGrpSpPr>
        <p:cNvPr id="100" name="Shape 100"/>
        <p:cNvGrpSpPr/>
        <p:nvPr/>
      </p:nvGrpSpPr>
      <p:grpSpPr>
        <a:xfrm>
          <a:off x="0" y="0"/>
          <a:ext cx="0" cy="0"/>
          <a:chOff x="0" y="0"/>
          <a:chExt cx="0" cy="0"/>
        </a:xfrm>
      </p:grpSpPr>
      <p:pic>
        <p:nvPicPr>
          <p:cNvPr id="101" name="Google Shape;101;p17"/>
          <p:cNvPicPr preferRelativeResize="0"/>
          <p:nvPr/>
        </p:nvPicPr>
        <p:blipFill rotWithShape="1">
          <a:blip r:embed="rId2">
            <a:alphaModFix/>
          </a:blip>
          <a:srcRect b="0" l="0" r="0" t="0"/>
          <a:stretch/>
        </p:blipFill>
        <p:spPr>
          <a:xfrm rot="10800000">
            <a:off x="2" y="-13500"/>
            <a:ext cx="12239998" cy="6885000"/>
          </a:xfrm>
          <a:prstGeom prst="rect">
            <a:avLst/>
          </a:prstGeom>
          <a:noFill/>
          <a:ln>
            <a:noFill/>
          </a:ln>
        </p:spPr>
      </p:pic>
      <p:sp>
        <p:nvSpPr>
          <p:cNvPr id="102" name="Google Shape;102;p17"/>
          <p:cNvSpPr txBox="1"/>
          <p:nvPr>
            <p:ph idx="1" type="body"/>
          </p:nvPr>
        </p:nvSpPr>
        <p:spPr>
          <a:xfrm>
            <a:off x="762000" y="2056399"/>
            <a:ext cx="10740900" cy="3779700"/>
          </a:xfrm>
          <a:prstGeom prst="rect">
            <a:avLst/>
          </a:prstGeom>
          <a:noFill/>
          <a:ln>
            <a:noFill/>
          </a:ln>
        </p:spPr>
        <p:txBody>
          <a:bodyPr anchorCtr="0" anchor="t" bIns="0" lIns="0" spcFirstLastPara="1" rIns="0" wrap="square" tIns="0">
            <a:noAutofit/>
          </a:bodyPr>
          <a:lstStyle>
            <a:lvl1pPr indent="-381000" lvl="0" marL="457200" algn="l">
              <a:lnSpc>
                <a:spcPct val="90000"/>
              </a:lnSpc>
              <a:spcBef>
                <a:spcPts val="1000"/>
              </a:spcBef>
              <a:spcAft>
                <a:spcPts val="0"/>
              </a:spcAft>
              <a:buClr>
                <a:schemeClr val="accent1"/>
              </a:buClr>
              <a:buSzPts val="2400"/>
              <a:buFont typeface="Arial"/>
              <a:buChar char="•"/>
              <a:defRPr sz="2400"/>
            </a:lvl1pPr>
            <a:lvl2pPr indent="-381000" lvl="1" marL="914400" algn="l">
              <a:lnSpc>
                <a:spcPct val="90000"/>
              </a:lnSpc>
              <a:spcBef>
                <a:spcPts val="800"/>
              </a:spcBef>
              <a:spcAft>
                <a:spcPts val="0"/>
              </a:spcAft>
              <a:buClr>
                <a:schemeClr val="accent1"/>
              </a:buClr>
              <a:buSzPts val="2400"/>
              <a:buFont typeface="Arial"/>
              <a:buChar char="•"/>
              <a:defRPr sz="2400"/>
            </a:lvl2pPr>
            <a:lvl3pPr indent="-381000" lvl="2" marL="1371600" algn="l">
              <a:lnSpc>
                <a:spcPct val="90000"/>
              </a:lnSpc>
              <a:spcBef>
                <a:spcPts val="500"/>
              </a:spcBef>
              <a:spcAft>
                <a:spcPts val="0"/>
              </a:spcAft>
              <a:buClr>
                <a:schemeClr val="accent1"/>
              </a:buClr>
              <a:buSzPts val="2400"/>
              <a:buFont typeface="Arial"/>
              <a:buChar char="•"/>
              <a:defRPr sz="2400"/>
            </a:lvl3pPr>
            <a:lvl4pPr indent="-381000" lvl="3" marL="1828800" algn="l">
              <a:lnSpc>
                <a:spcPct val="90000"/>
              </a:lnSpc>
              <a:spcBef>
                <a:spcPts val="500"/>
              </a:spcBef>
              <a:spcAft>
                <a:spcPts val="0"/>
              </a:spcAft>
              <a:buClr>
                <a:schemeClr val="accent1"/>
              </a:buClr>
              <a:buSzPts val="2400"/>
              <a:buFont typeface="Arial"/>
              <a:buChar char="•"/>
              <a:defRPr sz="2400"/>
            </a:lvl4pPr>
            <a:lvl5pPr indent="-381000" lvl="4" marL="2286000" algn="l">
              <a:lnSpc>
                <a:spcPct val="90000"/>
              </a:lnSpc>
              <a:spcBef>
                <a:spcPts val="500"/>
              </a:spcBef>
              <a:spcAft>
                <a:spcPts val="0"/>
              </a:spcAft>
              <a:buClr>
                <a:schemeClr val="accent1"/>
              </a:buClr>
              <a:buSzPts val="2400"/>
              <a:buFont typeface="Arial"/>
              <a:buChar char="•"/>
              <a:defRPr sz="2400"/>
            </a:lvl5pPr>
            <a:lvl6pPr indent="-381000" lvl="5" marL="2743200" algn="l">
              <a:lnSpc>
                <a:spcPct val="90000"/>
              </a:lnSpc>
              <a:spcBef>
                <a:spcPts val="500"/>
              </a:spcBef>
              <a:spcAft>
                <a:spcPts val="0"/>
              </a:spcAft>
              <a:buClr>
                <a:schemeClr val="dk1"/>
              </a:buClr>
              <a:buSzPts val="2400"/>
              <a:buChar char="•"/>
              <a:defRPr/>
            </a:lvl6pPr>
            <a:lvl7pPr indent="-381000" lvl="6" marL="3200400" algn="l">
              <a:lnSpc>
                <a:spcPct val="90000"/>
              </a:lnSpc>
              <a:spcBef>
                <a:spcPts val="500"/>
              </a:spcBef>
              <a:spcAft>
                <a:spcPts val="0"/>
              </a:spcAft>
              <a:buClr>
                <a:schemeClr val="dk1"/>
              </a:buClr>
              <a:buSzPts val="2400"/>
              <a:buChar char="•"/>
              <a:defRPr/>
            </a:lvl7pPr>
            <a:lvl8pPr indent="-381000" lvl="7" marL="3657600" algn="l">
              <a:lnSpc>
                <a:spcPct val="90000"/>
              </a:lnSpc>
              <a:spcBef>
                <a:spcPts val="500"/>
              </a:spcBef>
              <a:spcAft>
                <a:spcPts val="0"/>
              </a:spcAft>
              <a:buClr>
                <a:schemeClr val="dk1"/>
              </a:buClr>
              <a:buSzPts val="2400"/>
              <a:buChar char="•"/>
              <a:defRPr/>
            </a:lvl8pPr>
            <a:lvl9pPr indent="-381000" lvl="8" marL="4114800" algn="l">
              <a:lnSpc>
                <a:spcPct val="90000"/>
              </a:lnSpc>
              <a:spcBef>
                <a:spcPts val="500"/>
              </a:spcBef>
              <a:spcAft>
                <a:spcPts val="0"/>
              </a:spcAft>
              <a:buClr>
                <a:schemeClr val="dk1"/>
              </a:buClr>
              <a:buSzPts val="2400"/>
              <a:buChar char="•"/>
              <a:defRPr/>
            </a:lvl9pPr>
          </a:lstStyle>
          <a:p/>
        </p:txBody>
      </p:sp>
      <p:pic>
        <p:nvPicPr>
          <p:cNvPr id="103" name="Google Shape;103;p17"/>
          <p:cNvPicPr preferRelativeResize="0"/>
          <p:nvPr/>
        </p:nvPicPr>
        <p:blipFill rotWithShape="1">
          <a:blip r:embed="rId3">
            <a:alphaModFix/>
          </a:blip>
          <a:srcRect b="0" l="0" r="0" t="0"/>
          <a:stretch/>
        </p:blipFill>
        <p:spPr>
          <a:xfrm>
            <a:off x="9955075" y="5763492"/>
            <a:ext cx="2236924" cy="1094508"/>
          </a:xfrm>
          <a:prstGeom prst="rect">
            <a:avLst/>
          </a:prstGeom>
          <a:noFill/>
          <a:ln>
            <a:noFill/>
          </a:ln>
        </p:spPr>
      </p:pic>
      <p:sp>
        <p:nvSpPr>
          <p:cNvPr id="104" name="Google Shape;104;p17"/>
          <p:cNvSpPr txBox="1"/>
          <p:nvPr>
            <p:ph type="title"/>
          </p:nvPr>
        </p:nvSpPr>
        <p:spPr>
          <a:xfrm>
            <a:off x="761999" y="1022061"/>
            <a:ext cx="10740900" cy="96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05" name="Google Shape;105;p17"/>
          <p:cNvPicPr preferRelativeResize="0"/>
          <p:nvPr/>
        </p:nvPicPr>
        <p:blipFill rotWithShape="1">
          <a:blip r:embed="rId4">
            <a:alphaModFix/>
          </a:blip>
          <a:srcRect b="0" l="0" r="0" t="0"/>
          <a:stretch/>
        </p:blipFill>
        <p:spPr>
          <a:xfrm>
            <a:off x="9955075" y="5763491"/>
            <a:ext cx="2236924" cy="1094508"/>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New Section">
  <p:cSld name="1_New Section">
    <p:spTree>
      <p:nvGrpSpPr>
        <p:cNvPr id="106" name="Shape 106"/>
        <p:cNvGrpSpPr/>
        <p:nvPr/>
      </p:nvGrpSpPr>
      <p:grpSpPr>
        <a:xfrm>
          <a:off x="0" y="0"/>
          <a:ext cx="0" cy="0"/>
          <a:chOff x="0" y="0"/>
          <a:chExt cx="0" cy="0"/>
        </a:xfrm>
      </p:grpSpPr>
      <p:pic>
        <p:nvPicPr>
          <p:cNvPr id="107" name="Google Shape;107;p18"/>
          <p:cNvPicPr preferRelativeResize="0"/>
          <p:nvPr/>
        </p:nvPicPr>
        <p:blipFill rotWithShape="1">
          <a:blip r:embed="rId2">
            <a:alphaModFix/>
          </a:blip>
          <a:srcRect b="3120" l="0" r="0" t="0"/>
          <a:stretch/>
        </p:blipFill>
        <p:spPr>
          <a:xfrm>
            <a:off x="-17931" y="-15607"/>
            <a:ext cx="12239998" cy="6891668"/>
          </a:xfrm>
          <a:prstGeom prst="rect">
            <a:avLst/>
          </a:prstGeom>
          <a:noFill/>
          <a:ln>
            <a:noFill/>
          </a:ln>
        </p:spPr>
      </p:pic>
      <p:pic>
        <p:nvPicPr>
          <p:cNvPr id="108" name="Google Shape;108;p18"/>
          <p:cNvPicPr preferRelativeResize="0"/>
          <p:nvPr/>
        </p:nvPicPr>
        <p:blipFill rotWithShape="1">
          <a:blip r:embed="rId3">
            <a:alphaModFix/>
          </a:blip>
          <a:srcRect b="0" l="0" r="0" t="0"/>
          <a:stretch/>
        </p:blipFill>
        <p:spPr>
          <a:xfrm>
            <a:off x="9370707" y="5477565"/>
            <a:ext cx="2821293" cy="1380434"/>
          </a:xfrm>
          <a:prstGeom prst="rect">
            <a:avLst/>
          </a:prstGeom>
          <a:noFill/>
          <a:ln>
            <a:noFill/>
          </a:ln>
        </p:spPr>
      </p:pic>
      <p:sp>
        <p:nvSpPr>
          <p:cNvPr id="109" name="Google Shape;109;p18"/>
          <p:cNvSpPr txBox="1"/>
          <p:nvPr>
            <p:ph type="ctrTitle"/>
          </p:nvPr>
        </p:nvSpPr>
        <p:spPr>
          <a:xfrm>
            <a:off x="763200" y="561531"/>
            <a:ext cx="7616700" cy="238770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lt1"/>
              </a:buClr>
              <a:buSzPts val="3700"/>
              <a:buFont typeface="Arial"/>
              <a:buNone/>
              <a:defRPr b="1" sz="3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8"/>
          <p:cNvSpPr txBox="1"/>
          <p:nvPr>
            <p:ph idx="1" type="subTitle"/>
          </p:nvPr>
        </p:nvSpPr>
        <p:spPr>
          <a:xfrm>
            <a:off x="763200" y="3041205"/>
            <a:ext cx="7616700" cy="16557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SzPts val="2400"/>
              <a:buNone/>
              <a:defRPr sz="2400">
                <a:solidFill>
                  <a:schemeClr val="lt1"/>
                </a:solidFil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13.png"/><Relationship Id="rId7"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13.png"/><Relationship Id="rId7"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22.png"/><Relationship Id="rId5"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0.jp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type="ctrTitle"/>
          </p:nvPr>
        </p:nvSpPr>
        <p:spPr>
          <a:xfrm>
            <a:off x="1388400" y="891474"/>
            <a:ext cx="9415200" cy="24621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r>
              <a:rPr lang="en-SG" sz="3600"/>
              <a:t>Annotation Is (Almost) Indispensable: The Limitations of Unpaired Domain Translation and Semi-Supervised Approaches to Ultrasound Simplification</a:t>
            </a:r>
            <a:endParaRPr sz="3600"/>
          </a:p>
        </p:txBody>
      </p:sp>
      <p:sp>
        <p:nvSpPr>
          <p:cNvPr id="117" name="Google Shape;117;p19"/>
          <p:cNvSpPr txBox="1"/>
          <p:nvPr>
            <p:ph idx="1" type="subTitle"/>
          </p:nvPr>
        </p:nvSpPr>
        <p:spPr>
          <a:xfrm>
            <a:off x="1524000" y="3748863"/>
            <a:ext cx="9144000" cy="16557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ctr">
              <a:lnSpc>
                <a:spcPct val="90000"/>
              </a:lnSpc>
              <a:spcBef>
                <a:spcPts val="0"/>
              </a:spcBef>
              <a:spcAft>
                <a:spcPts val="0"/>
              </a:spcAft>
              <a:buClr>
                <a:schemeClr val="dk1"/>
              </a:buClr>
              <a:buSzPct val="100000"/>
              <a:buNone/>
            </a:pPr>
            <a:r>
              <a:rPr lang="en-SG"/>
              <a:t>Precious Kolawole and Matthew S. Holden</a:t>
            </a:r>
            <a:endParaRPr/>
          </a:p>
          <a:p>
            <a:pPr indent="0" lvl="0" marL="0" rtl="0" algn="ctr">
              <a:lnSpc>
                <a:spcPct val="90000"/>
              </a:lnSpc>
              <a:spcBef>
                <a:spcPts val="1000"/>
              </a:spcBef>
              <a:spcAft>
                <a:spcPts val="0"/>
              </a:spcAft>
              <a:buClr>
                <a:schemeClr val="dk1"/>
              </a:buClr>
              <a:buSzPct val="100000"/>
              <a:buNone/>
            </a:pPr>
            <a:r>
              <a:rPr lang="en-SG"/>
              <a:t>Carleton University, School of Computer Science, Ottawa, Ontario, Canada</a:t>
            </a:r>
            <a:endParaRPr/>
          </a:p>
          <a:p>
            <a:pPr indent="0" lvl="0" marL="0" rtl="0" algn="ctr">
              <a:lnSpc>
                <a:spcPct val="90000"/>
              </a:lnSpc>
              <a:spcBef>
                <a:spcPts val="100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t/>
            </a:r>
            <a:endParaRPr/>
          </a:p>
        </p:txBody>
      </p:sp>
      <p:pic>
        <p:nvPicPr>
          <p:cNvPr id="118" name="Google Shape;118;p19"/>
          <p:cNvPicPr preferRelativeResize="0"/>
          <p:nvPr/>
        </p:nvPicPr>
        <p:blipFill>
          <a:blip r:embed="rId3">
            <a:alphaModFix/>
          </a:blip>
          <a:stretch>
            <a:fillRect/>
          </a:stretch>
        </p:blipFill>
        <p:spPr>
          <a:xfrm>
            <a:off x="-3" y="0"/>
            <a:ext cx="1634929" cy="304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3" name="Shape 123"/>
        <p:cNvGrpSpPr/>
        <p:nvPr/>
      </p:nvGrpSpPr>
      <p:grpSpPr>
        <a:xfrm>
          <a:off x="0" y="0"/>
          <a:ext cx="0" cy="0"/>
          <a:chOff x="0" y="0"/>
          <a:chExt cx="0" cy="0"/>
        </a:xfrm>
      </p:grpSpPr>
      <p:sp>
        <p:nvSpPr>
          <p:cNvPr id="124" name="Google Shape;124;p20"/>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125" name="Google Shape;125;p20"/>
          <p:cNvSpPr txBox="1"/>
          <p:nvPr/>
        </p:nvSpPr>
        <p:spPr>
          <a:xfrm>
            <a:off x="900951" y="842625"/>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Background</a:t>
            </a:r>
            <a:endParaRPr/>
          </a:p>
        </p:txBody>
      </p:sp>
      <p:sp>
        <p:nvSpPr>
          <p:cNvPr id="126" name="Google Shape;126;p20"/>
          <p:cNvSpPr/>
          <p:nvPr/>
        </p:nvSpPr>
        <p:spPr>
          <a:xfrm>
            <a:off x="1178663" y="1779100"/>
            <a:ext cx="9834600" cy="3185400"/>
          </a:xfrm>
          <a:prstGeom prst="roundRect">
            <a:avLst>
              <a:gd fmla="val 16667" name="adj"/>
            </a:avLst>
          </a:prstGeom>
          <a:solidFill>
            <a:schemeClr val="lt1"/>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27" name="Google Shape;127;p20" title="Screenshot 2026-02-13 at 3.48.14 PM.png"/>
          <p:cNvPicPr preferRelativeResize="0"/>
          <p:nvPr/>
        </p:nvPicPr>
        <p:blipFill>
          <a:blip r:embed="rId3">
            <a:alphaModFix/>
          </a:blip>
          <a:stretch>
            <a:fillRect/>
          </a:stretch>
        </p:blipFill>
        <p:spPr>
          <a:xfrm>
            <a:off x="1828375" y="2222925"/>
            <a:ext cx="2304825" cy="2297750"/>
          </a:xfrm>
          <a:prstGeom prst="rect">
            <a:avLst/>
          </a:prstGeom>
          <a:noFill/>
          <a:ln>
            <a:noFill/>
          </a:ln>
        </p:spPr>
      </p:pic>
      <p:pic>
        <p:nvPicPr>
          <p:cNvPr id="128" name="Google Shape;128;p20" title="Screenshot 2026-02-13 at 3.49.44 PM.png"/>
          <p:cNvPicPr preferRelativeResize="0"/>
          <p:nvPr/>
        </p:nvPicPr>
        <p:blipFill>
          <a:blip r:embed="rId4">
            <a:alphaModFix/>
          </a:blip>
          <a:stretch>
            <a:fillRect/>
          </a:stretch>
        </p:blipFill>
        <p:spPr>
          <a:xfrm>
            <a:off x="4943572" y="2219375"/>
            <a:ext cx="2304825" cy="2304825"/>
          </a:xfrm>
          <a:prstGeom prst="rect">
            <a:avLst/>
          </a:prstGeom>
          <a:noFill/>
          <a:ln>
            <a:noFill/>
          </a:ln>
        </p:spPr>
      </p:pic>
      <p:pic>
        <p:nvPicPr>
          <p:cNvPr id="129" name="Google Shape;129;p20" title="Screenshot 2026-02-13 at 3.50.08 PM.png"/>
          <p:cNvPicPr preferRelativeResize="0"/>
          <p:nvPr/>
        </p:nvPicPr>
        <p:blipFill>
          <a:blip r:embed="rId5">
            <a:alphaModFix/>
          </a:blip>
          <a:stretch>
            <a:fillRect/>
          </a:stretch>
        </p:blipFill>
        <p:spPr>
          <a:xfrm>
            <a:off x="7895913" y="2219375"/>
            <a:ext cx="2318977" cy="2304825"/>
          </a:xfrm>
          <a:prstGeom prst="rect">
            <a:avLst/>
          </a:prstGeom>
          <a:noFill/>
          <a:ln>
            <a:noFill/>
          </a:ln>
        </p:spPr>
      </p:pic>
      <p:sp>
        <p:nvSpPr>
          <p:cNvPr id="130" name="Google Shape;130;p20"/>
          <p:cNvSpPr txBox="1"/>
          <p:nvPr/>
        </p:nvSpPr>
        <p:spPr>
          <a:xfrm>
            <a:off x="2639981" y="4520675"/>
            <a:ext cx="681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SG" sz="1000">
                <a:solidFill>
                  <a:schemeClr val="dk1"/>
                </a:solidFill>
                <a:latin typeface="Calibri"/>
                <a:ea typeface="Calibri"/>
                <a:cs typeface="Calibri"/>
                <a:sym typeface="Calibri"/>
              </a:rPr>
              <a:t>US image</a:t>
            </a:r>
            <a:endParaRPr b="1" sz="1000">
              <a:solidFill>
                <a:schemeClr val="dk1"/>
              </a:solidFill>
              <a:latin typeface="Calibri"/>
              <a:ea typeface="Calibri"/>
              <a:cs typeface="Calibri"/>
              <a:sym typeface="Calibri"/>
            </a:endParaRPr>
          </a:p>
        </p:txBody>
      </p:sp>
      <p:sp>
        <p:nvSpPr>
          <p:cNvPr id="131" name="Google Shape;131;p20"/>
          <p:cNvSpPr txBox="1"/>
          <p:nvPr/>
        </p:nvSpPr>
        <p:spPr>
          <a:xfrm>
            <a:off x="5476183" y="4520675"/>
            <a:ext cx="1239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SG" sz="1000">
                <a:solidFill>
                  <a:schemeClr val="dk1"/>
                </a:solidFill>
                <a:latin typeface="Calibri"/>
                <a:ea typeface="Calibri"/>
                <a:cs typeface="Calibri"/>
                <a:sym typeface="Calibri"/>
              </a:rPr>
              <a:t>expert drawn mask</a:t>
            </a:r>
            <a:endParaRPr b="1" sz="1000">
              <a:solidFill>
                <a:schemeClr val="dk1"/>
              </a:solidFill>
              <a:latin typeface="Calibri"/>
              <a:ea typeface="Calibri"/>
              <a:cs typeface="Calibri"/>
              <a:sym typeface="Calibri"/>
            </a:endParaRPr>
          </a:p>
        </p:txBody>
      </p:sp>
      <p:sp>
        <p:nvSpPr>
          <p:cNvPr id="132" name="Google Shape;132;p20"/>
          <p:cNvSpPr txBox="1"/>
          <p:nvPr/>
        </p:nvSpPr>
        <p:spPr>
          <a:xfrm>
            <a:off x="8508501" y="4520675"/>
            <a:ext cx="1093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SG" sz="1000">
                <a:solidFill>
                  <a:schemeClr val="dk1"/>
                </a:solidFill>
                <a:latin typeface="Calibri"/>
                <a:ea typeface="Calibri"/>
                <a:cs typeface="Calibri"/>
                <a:sym typeface="Calibri"/>
              </a:rPr>
              <a:t>US segmentation</a:t>
            </a:r>
            <a:endParaRPr b="1" sz="1000">
              <a:solidFill>
                <a:schemeClr val="dk1"/>
              </a:solidFill>
              <a:latin typeface="Calibri"/>
              <a:ea typeface="Calibri"/>
              <a:cs typeface="Calibri"/>
              <a:sym typeface="Calibri"/>
            </a:endParaRPr>
          </a:p>
        </p:txBody>
      </p:sp>
      <p:pic>
        <p:nvPicPr>
          <p:cNvPr id="133" name="Google Shape;133;p20"/>
          <p:cNvPicPr preferRelativeResize="0"/>
          <p:nvPr/>
        </p:nvPicPr>
        <p:blipFill>
          <a:blip r:embed="rId6">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sp>
        <p:nvSpPr>
          <p:cNvPr id="139" name="Google Shape;139;p21"/>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140" name="Google Shape;140;p21"/>
          <p:cNvSpPr txBox="1"/>
          <p:nvPr/>
        </p:nvSpPr>
        <p:spPr>
          <a:xfrm>
            <a:off x="793376" y="632012"/>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Prior Work</a:t>
            </a:r>
            <a:endParaRPr/>
          </a:p>
        </p:txBody>
      </p:sp>
      <p:sp>
        <p:nvSpPr>
          <p:cNvPr id="141" name="Google Shape;141;p21"/>
          <p:cNvSpPr txBox="1"/>
          <p:nvPr/>
        </p:nvSpPr>
        <p:spPr>
          <a:xfrm>
            <a:off x="900949" y="1573300"/>
            <a:ext cx="10617600" cy="28629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Char char="•"/>
            </a:pPr>
            <a:r>
              <a:rPr lang="en-SG" sz="1800">
                <a:solidFill>
                  <a:schemeClr val="dk1"/>
                </a:solidFill>
              </a:rPr>
              <a:t>U-Net</a:t>
            </a:r>
            <a:r>
              <a:rPr baseline="30000" lang="en-SG" sz="1800">
                <a:solidFill>
                  <a:schemeClr val="dk1"/>
                </a:solidFill>
              </a:rPr>
              <a:t>1</a:t>
            </a:r>
            <a:r>
              <a:rPr lang="en-SG" sz="1800">
                <a:solidFill>
                  <a:schemeClr val="dk1"/>
                </a:solidFill>
              </a:rPr>
              <a:t> for fully supervised segmentation needs paired data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endParaRPr>
          </a:p>
          <a:p>
            <a:pPr indent="-285750" lvl="0" marL="285750" marR="0" rtl="0" algn="l">
              <a:spcBef>
                <a:spcPts val="0"/>
              </a:spcBef>
              <a:spcAft>
                <a:spcPts val="0"/>
              </a:spcAft>
              <a:buClr>
                <a:schemeClr val="dk1"/>
              </a:buClr>
              <a:buSzPts val="1800"/>
              <a:buChar char="•"/>
            </a:pPr>
            <a:r>
              <a:rPr lang="en-SG" sz="1800">
                <a:solidFill>
                  <a:schemeClr val="dk1"/>
                </a:solidFill>
              </a:rPr>
              <a:t>MLAU-Net</a:t>
            </a:r>
            <a:r>
              <a:rPr baseline="30000" lang="en-SG" sz="1800">
                <a:solidFill>
                  <a:schemeClr val="dk1"/>
                </a:solidFill>
              </a:rPr>
              <a:t>2</a:t>
            </a:r>
            <a:r>
              <a:rPr lang="en-SG" sz="1800">
                <a:solidFill>
                  <a:schemeClr val="dk1"/>
                </a:solidFill>
              </a:rPr>
              <a:t> solution to US low contrast and speckle noise also requires paired annotation </a:t>
            </a:r>
            <a:endParaRPr sz="1800">
              <a:solidFill>
                <a:schemeClr val="dk1"/>
              </a:solidFill>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endParaRPr>
          </a:p>
          <a:p>
            <a:pPr indent="-285750" lvl="0" marL="285750" marR="0" rtl="0" algn="l">
              <a:spcBef>
                <a:spcPts val="0"/>
              </a:spcBef>
              <a:spcAft>
                <a:spcPts val="0"/>
              </a:spcAft>
              <a:buClr>
                <a:schemeClr val="dk1"/>
              </a:buClr>
              <a:buSzPts val="1800"/>
              <a:buChar char="•"/>
            </a:pPr>
            <a:r>
              <a:rPr lang="en-SG" sz="1800">
                <a:solidFill>
                  <a:schemeClr val="dk1"/>
                </a:solidFill>
              </a:rPr>
              <a:t>Unpaired domain translation, CycleGAN</a:t>
            </a:r>
            <a:r>
              <a:rPr baseline="30000" lang="en-SG" sz="1800">
                <a:solidFill>
                  <a:schemeClr val="dk1"/>
                </a:solidFill>
              </a:rPr>
              <a:t>3</a:t>
            </a:r>
            <a:r>
              <a:rPr lang="en-SG" sz="1800">
                <a:solidFill>
                  <a:schemeClr val="dk1"/>
                </a:solidFill>
              </a:rPr>
              <a:t> used in cardiac US with constrained shape has questionable performance for complex US structures</a:t>
            </a:r>
            <a:endParaRPr/>
          </a:p>
          <a:p>
            <a:pPr indent="0" lvl="0" marL="0" marR="0" rtl="0" algn="l">
              <a:spcBef>
                <a:spcPts val="0"/>
              </a:spcBef>
              <a:spcAft>
                <a:spcPts val="0"/>
              </a:spcAft>
              <a:buNone/>
            </a:pPr>
            <a:r>
              <a:t/>
            </a:r>
            <a:endParaRPr sz="1800">
              <a:solidFill>
                <a:schemeClr val="dk1"/>
              </a:solidFill>
            </a:endParaRPr>
          </a:p>
          <a:p>
            <a:pPr indent="-285750" lvl="0" marL="285750" marR="0" rtl="0" algn="l">
              <a:spcBef>
                <a:spcPts val="0"/>
              </a:spcBef>
              <a:spcAft>
                <a:spcPts val="0"/>
              </a:spcAft>
              <a:buClr>
                <a:schemeClr val="dk1"/>
              </a:buClr>
              <a:buSzPts val="1800"/>
              <a:buChar char="•"/>
            </a:pPr>
            <a:r>
              <a:rPr lang="en-SG" sz="1800">
                <a:solidFill>
                  <a:schemeClr val="dk1"/>
                </a:solidFill>
              </a:rPr>
              <a:t>Semi-supervised with consistency regularization</a:t>
            </a:r>
            <a:r>
              <a:rPr baseline="30000" lang="en-SG" sz="1800">
                <a:solidFill>
                  <a:schemeClr val="dk1"/>
                </a:solidFill>
              </a:rPr>
              <a:t>4</a:t>
            </a:r>
            <a:r>
              <a:rPr lang="en-SG" sz="1800">
                <a:solidFill>
                  <a:schemeClr val="dk1"/>
                </a:solidFill>
              </a:rPr>
              <a:t> and adversarial training uses limited annotation, but minimum effective annotation remains unquantified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21"/>
          <p:cNvSpPr txBox="1"/>
          <p:nvPr/>
        </p:nvSpPr>
        <p:spPr>
          <a:xfrm>
            <a:off x="900950" y="4907600"/>
            <a:ext cx="10058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SG" sz="1000">
                <a:solidFill>
                  <a:schemeClr val="dk1"/>
                </a:solidFill>
                <a:latin typeface="Calibri"/>
                <a:ea typeface="Calibri"/>
                <a:cs typeface="Calibri"/>
                <a:sym typeface="Calibri"/>
              </a:rPr>
              <a:t>1. Ronneberger, O., et al, “U-net: Convolutional networks for biomedical image segmentation,” (2015).</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SG" sz="1000">
                <a:solidFill>
                  <a:schemeClr val="dk1"/>
                </a:solidFill>
                <a:latin typeface="Calibri"/>
                <a:ea typeface="Calibri"/>
                <a:cs typeface="Calibri"/>
                <a:sym typeface="Calibri"/>
              </a:rPr>
              <a:t>2. Khan, R., et al, “Mlau-net: Deep supervised attention and hybrid loss strategies for enhanced segmentation of low-resolution kidney ultrasound,” DIGITAL HEALTH (2024).</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SG" sz="1000">
                <a:solidFill>
                  <a:schemeClr val="dk1"/>
                </a:solidFill>
                <a:latin typeface="Calibri"/>
                <a:ea typeface="Calibri"/>
                <a:cs typeface="Calibri"/>
                <a:sym typeface="Calibri"/>
              </a:rPr>
              <a:t>3. Zhu, J.-Y., et al, “Unpaired image-to-image translation using cycle-consistent adversarial networks,” ICCV (2017).</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SG" sz="1000">
                <a:solidFill>
                  <a:schemeClr val="dk1"/>
                </a:solidFill>
                <a:latin typeface="Calibri"/>
                <a:ea typeface="Calibri"/>
                <a:cs typeface="Calibri"/>
                <a:sym typeface="Calibri"/>
              </a:rPr>
              <a:t>4. Zhang, Z., et al, “Translating and segmenting multimodal medical volumes with cycle-and shape-consistency generative adversarial network,” 9242–9251 (2018)</a:t>
            </a:r>
            <a:endParaRPr sz="1000">
              <a:solidFill>
                <a:schemeClr val="dk1"/>
              </a:solidFill>
              <a:latin typeface="Calibri"/>
              <a:ea typeface="Calibri"/>
              <a:cs typeface="Calibri"/>
              <a:sym typeface="Calibri"/>
            </a:endParaRPr>
          </a:p>
        </p:txBody>
      </p:sp>
      <p:pic>
        <p:nvPicPr>
          <p:cNvPr id="143" name="Google Shape;143;p21"/>
          <p:cNvPicPr preferRelativeResize="0"/>
          <p:nvPr/>
        </p:nvPicPr>
        <p:blipFill>
          <a:blip r:embed="rId3">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22"/>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150" name="Google Shape;150;p22"/>
          <p:cNvSpPr txBox="1"/>
          <p:nvPr/>
        </p:nvSpPr>
        <p:spPr>
          <a:xfrm>
            <a:off x="793376" y="632012"/>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Objective</a:t>
            </a:r>
            <a:endParaRPr/>
          </a:p>
        </p:txBody>
      </p:sp>
      <p:sp>
        <p:nvSpPr>
          <p:cNvPr id="151" name="Google Shape;151;p22"/>
          <p:cNvSpPr txBox="1"/>
          <p:nvPr/>
        </p:nvSpPr>
        <p:spPr>
          <a:xfrm>
            <a:off x="793375" y="2200675"/>
            <a:ext cx="10804500" cy="1754700"/>
          </a:xfrm>
          <a:prstGeom prst="rect">
            <a:avLst/>
          </a:prstGeom>
          <a:noFill/>
          <a:ln>
            <a:noFill/>
          </a:ln>
        </p:spPr>
        <p:txBody>
          <a:bodyPr anchorCtr="0" anchor="t" bIns="45700" lIns="91425" spcFirstLastPara="1" rIns="91425" wrap="square" tIns="45700">
            <a:spAutoFit/>
          </a:bodyPr>
          <a:lstStyle/>
          <a:p>
            <a:pPr indent="457200" lvl="0" marL="0" marR="0" rtl="0" algn="l">
              <a:spcBef>
                <a:spcPts val="0"/>
              </a:spcBef>
              <a:spcAft>
                <a:spcPts val="0"/>
              </a:spcAft>
              <a:buNone/>
            </a:pPr>
            <a:r>
              <a:rPr b="1" lang="en-SG" sz="1800">
                <a:solidFill>
                  <a:schemeClr val="dk1"/>
                </a:solidFill>
              </a:rPr>
              <a:t>Research Question: Can we effectively simplify ultrasound through segmentation without</a:t>
            </a:r>
            <a:endParaRPr b="1" sz="1800">
              <a:solidFill>
                <a:schemeClr val="dk1"/>
              </a:solidFill>
            </a:endParaRPr>
          </a:p>
          <a:p>
            <a:pPr indent="457200" lvl="0" marL="0" marR="0" rtl="0" algn="l">
              <a:spcBef>
                <a:spcPts val="0"/>
              </a:spcBef>
              <a:spcAft>
                <a:spcPts val="0"/>
              </a:spcAft>
              <a:buNone/>
            </a:pPr>
            <a:r>
              <a:rPr b="1" lang="en-SG" sz="1800">
                <a:solidFill>
                  <a:schemeClr val="dk1"/>
                </a:solidFill>
              </a:rPr>
              <a:t>paired annotation?</a:t>
            </a:r>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Arial"/>
              <a:ea typeface="Arial"/>
              <a:cs typeface="Arial"/>
              <a:sym typeface="Arial"/>
            </a:endParaRPr>
          </a:p>
          <a:p>
            <a:pPr indent="-342900" lvl="0" marL="457200" marR="0" rtl="0" algn="l">
              <a:spcBef>
                <a:spcPts val="0"/>
              </a:spcBef>
              <a:spcAft>
                <a:spcPts val="0"/>
              </a:spcAft>
              <a:buClr>
                <a:schemeClr val="dk1"/>
              </a:buClr>
              <a:buSzPts val="1800"/>
              <a:buAutoNum type="arabicPeriod"/>
            </a:pPr>
            <a:r>
              <a:rPr lang="en-SG" sz="1800">
                <a:solidFill>
                  <a:schemeClr val="dk1"/>
                </a:solidFill>
              </a:rPr>
              <a:t>Determine whether unpaired approaches can produce clinically useful segmentations. </a:t>
            </a:r>
            <a:endParaRPr sz="1800">
              <a:solidFill>
                <a:schemeClr val="dk1"/>
              </a:solidFill>
            </a:endParaRPr>
          </a:p>
          <a:p>
            <a:pPr indent="-342900" lvl="0" marL="457200" marR="0" rtl="0" algn="l">
              <a:spcBef>
                <a:spcPts val="0"/>
              </a:spcBef>
              <a:spcAft>
                <a:spcPts val="0"/>
              </a:spcAft>
              <a:buClr>
                <a:schemeClr val="dk1"/>
              </a:buClr>
              <a:buSzPts val="1800"/>
              <a:buAutoNum type="arabicPeriod"/>
            </a:pPr>
            <a:r>
              <a:rPr lang="en-SG" sz="1800">
                <a:solidFill>
                  <a:schemeClr val="dk1"/>
                </a:solidFill>
              </a:rPr>
              <a:t>Quantify the minimum annotation required for viable simplification.</a:t>
            </a:r>
            <a:endParaRPr sz="1800">
              <a:solidFill>
                <a:schemeClr val="dk1"/>
              </a:solidFill>
            </a:endParaRPr>
          </a:p>
          <a:p>
            <a:pPr indent="-342900" lvl="0" marL="457200" marR="0" rtl="0" algn="l">
              <a:spcBef>
                <a:spcPts val="0"/>
              </a:spcBef>
              <a:spcAft>
                <a:spcPts val="0"/>
              </a:spcAft>
              <a:buClr>
                <a:schemeClr val="dk1"/>
              </a:buClr>
              <a:buSzPts val="1800"/>
              <a:buAutoNum type="arabicPeriod"/>
            </a:pPr>
            <a:r>
              <a:rPr lang="en-SG" sz="1800">
                <a:solidFill>
                  <a:schemeClr val="dk1"/>
                </a:solidFill>
              </a:rPr>
              <a:t>Determine how segmentation complexity fundamentally reshapes these requirements.</a:t>
            </a:r>
            <a:endParaRPr sz="1800">
              <a:solidFill>
                <a:schemeClr val="dk1"/>
              </a:solidFill>
            </a:endParaRPr>
          </a:p>
        </p:txBody>
      </p:sp>
      <p:pic>
        <p:nvPicPr>
          <p:cNvPr id="152" name="Google Shape;152;p22"/>
          <p:cNvPicPr preferRelativeResize="0"/>
          <p:nvPr/>
        </p:nvPicPr>
        <p:blipFill>
          <a:blip r:embed="rId3">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p23"/>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159" name="Google Shape;159;p23"/>
          <p:cNvSpPr txBox="1"/>
          <p:nvPr/>
        </p:nvSpPr>
        <p:spPr>
          <a:xfrm>
            <a:off x="793376" y="632012"/>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Dataset</a:t>
            </a:r>
            <a:endParaRPr/>
          </a:p>
        </p:txBody>
      </p:sp>
      <p:sp>
        <p:nvSpPr>
          <p:cNvPr id="160" name="Google Shape;160;p23"/>
          <p:cNvSpPr txBox="1"/>
          <p:nvPr/>
        </p:nvSpPr>
        <p:spPr>
          <a:xfrm>
            <a:off x="5074963" y="2736300"/>
            <a:ext cx="6064500" cy="1169700"/>
          </a:xfrm>
          <a:prstGeom prst="rect">
            <a:avLst/>
          </a:prstGeom>
          <a:noFill/>
          <a:ln>
            <a:noFill/>
          </a:ln>
        </p:spPr>
        <p:txBody>
          <a:bodyPr anchorCtr="0" anchor="t" bIns="45700" lIns="91425" spcFirstLastPara="1" rIns="91425" wrap="square" tIns="45700">
            <a:spAutoFit/>
          </a:bodyPr>
          <a:lstStyle/>
          <a:p>
            <a:pPr indent="-317500" lvl="0" marL="457200" marR="0" rtl="0" algn="l">
              <a:spcBef>
                <a:spcPts val="0"/>
              </a:spcBef>
              <a:spcAft>
                <a:spcPts val="0"/>
              </a:spcAft>
              <a:buSzPts val="1400"/>
              <a:buChar char="●"/>
            </a:pPr>
            <a:r>
              <a:rPr lang="en-SG"/>
              <a:t>Open kidney dataset</a:t>
            </a:r>
            <a:r>
              <a:rPr baseline="30000" lang="en-SG"/>
              <a:t>5</a:t>
            </a:r>
            <a:endParaRPr/>
          </a:p>
          <a:p>
            <a:pPr indent="-317500" lvl="0" marL="457200" marR="0" rtl="0" algn="l">
              <a:spcBef>
                <a:spcPts val="0"/>
              </a:spcBef>
              <a:spcAft>
                <a:spcPts val="0"/>
              </a:spcAft>
              <a:buSzPts val="1400"/>
              <a:buChar char="●"/>
            </a:pPr>
            <a:r>
              <a:rPr lang="en-SG"/>
              <a:t>534 US images of patients with chronic kidney disease, donor and transplant recipients </a:t>
            </a:r>
            <a:endParaRPr/>
          </a:p>
          <a:p>
            <a:pPr indent="-317500" lvl="0" marL="457200" marR="0" rtl="0" algn="l">
              <a:spcBef>
                <a:spcPts val="0"/>
              </a:spcBef>
              <a:spcAft>
                <a:spcPts val="0"/>
              </a:spcAft>
              <a:buSzPts val="1400"/>
              <a:buChar char="●"/>
            </a:pPr>
            <a:r>
              <a:rPr lang="en-SG"/>
              <a:t>Four kidney regions annotated: </a:t>
            </a:r>
            <a:r>
              <a:rPr b="1" lang="en-SG"/>
              <a:t>cortex</a:t>
            </a:r>
            <a:r>
              <a:rPr lang="en-SG"/>
              <a:t>, </a:t>
            </a:r>
            <a:r>
              <a:rPr b="1" lang="en-SG"/>
              <a:t>capsule</a:t>
            </a:r>
            <a:r>
              <a:rPr lang="en-SG"/>
              <a:t>, </a:t>
            </a:r>
            <a:r>
              <a:rPr b="1" lang="en-SG"/>
              <a:t>medulla</a:t>
            </a:r>
            <a:r>
              <a:rPr lang="en-SG"/>
              <a:t>, and </a:t>
            </a:r>
            <a:r>
              <a:rPr b="1" lang="en-SG"/>
              <a:t>central echo complex</a:t>
            </a:r>
            <a:endParaRPr/>
          </a:p>
        </p:txBody>
      </p:sp>
      <p:pic>
        <p:nvPicPr>
          <p:cNvPr id="161" name="Google Shape;161;p23"/>
          <p:cNvPicPr preferRelativeResize="0"/>
          <p:nvPr/>
        </p:nvPicPr>
        <p:blipFill>
          <a:blip r:embed="rId3">
            <a:alphaModFix/>
          </a:blip>
          <a:stretch>
            <a:fillRect/>
          </a:stretch>
        </p:blipFill>
        <p:spPr>
          <a:xfrm>
            <a:off x="1093463" y="1876477"/>
            <a:ext cx="3541399" cy="2889652"/>
          </a:xfrm>
          <a:prstGeom prst="rect">
            <a:avLst/>
          </a:prstGeom>
          <a:noFill/>
          <a:ln>
            <a:noFill/>
          </a:ln>
        </p:spPr>
      </p:pic>
      <p:sp>
        <p:nvSpPr>
          <p:cNvPr id="162" name="Google Shape;162;p23"/>
          <p:cNvSpPr txBox="1"/>
          <p:nvPr/>
        </p:nvSpPr>
        <p:spPr>
          <a:xfrm>
            <a:off x="1381050" y="5487400"/>
            <a:ext cx="9429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SG" sz="1000">
                <a:solidFill>
                  <a:schemeClr val="dk1"/>
                </a:solidFill>
                <a:latin typeface="Calibri"/>
                <a:ea typeface="Calibri"/>
                <a:cs typeface="Calibri"/>
                <a:sym typeface="Calibri"/>
              </a:rPr>
              <a:t>5. Singla, R., et al, “The open kidney ultrasound data set,” in [International Workshop on Advances in Simplifying Medical Ultrasound (ASMUS)], Springer Nature Switzerland (2023).</a:t>
            </a:r>
            <a:endParaRPr sz="1000">
              <a:solidFill>
                <a:schemeClr val="dk1"/>
              </a:solidFill>
              <a:latin typeface="Calibri"/>
              <a:ea typeface="Calibri"/>
              <a:cs typeface="Calibri"/>
              <a:sym typeface="Calibri"/>
            </a:endParaRPr>
          </a:p>
        </p:txBody>
      </p:sp>
      <p:pic>
        <p:nvPicPr>
          <p:cNvPr id="163" name="Google Shape;163;p23"/>
          <p:cNvPicPr preferRelativeResize="0"/>
          <p:nvPr/>
        </p:nvPicPr>
        <p:blipFill>
          <a:blip r:embed="rId4">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24"/>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170" name="Google Shape;170;p24"/>
          <p:cNvSpPr txBox="1"/>
          <p:nvPr/>
        </p:nvSpPr>
        <p:spPr>
          <a:xfrm>
            <a:off x="793376" y="632012"/>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Preprocessing</a:t>
            </a:r>
            <a:endParaRPr b="1" sz="2800">
              <a:solidFill>
                <a:schemeClr val="dk1"/>
              </a:solidFill>
              <a:latin typeface="Calibri"/>
              <a:ea typeface="Calibri"/>
              <a:cs typeface="Calibri"/>
              <a:sym typeface="Calibri"/>
            </a:endParaRPr>
          </a:p>
        </p:txBody>
      </p:sp>
      <p:pic>
        <p:nvPicPr>
          <p:cNvPr id="171" name="Google Shape;171;p24"/>
          <p:cNvPicPr preferRelativeResize="0"/>
          <p:nvPr/>
        </p:nvPicPr>
        <p:blipFill>
          <a:blip r:embed="rId3">
            <a:alphaModFix/>
          </a:blip>
          <a:stretch>
            <a:fillRect/>
          </a:stretch>
        </p:blipFill>
        <p:spPr>
          <a:xfrm>
            <a:off x="1306097" y="6135025"/>
            <a:ext cx="1634929" cy="304650"/>
          </a:xfrm>
          <a:prstGeom prst="rect">
            <a:avLst/>
          </a:prstGeom>
          <a:noFill/>
          <a:ln>
            <a:noFill/>
          </a:ln>
        </p:spPr>
      </p:pic>
      <p:sp>
        <p:nvSpPr>
          <p:cNvPr id="172" name="Google Shape;172;p24"/>
          <p:cNvSpPr txBox="1"/>
          <p:nvPr/>
        </p:nvSpPr>
        <p:spPr>
          <a:xfrm>
            <a:off x="793375" y="1485300"/>
            <a:ext cx="87195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Calibri"/>
              <a:buAutoNum type="arabicPeriod"/>
            </a:pPr>
            <a:r>
              <a:rPr lang="en-SG" sz="1800">
                <a:solidFill>
                  <a:schemeClr val="dk1"/>
                </a:solidFill>
                <a:latin typeface="Calibri"/>
                <a:ea typeface="Calibri"/>
                <a:cs typeface="Calibri"/>
                <a:sym typeface="Calibri"/>
              </a:rPr>
              <a:t>Image-mask center cropped by 70%</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n-SG" sz="1800">
                <a:solidFill>
                  <a:schemeClr val="dk1"/>
                </a:solidFill>
                <a:latin typeface="Calibri"/>
                <a:ea typeface="Calibri"/>
                <a:cs typeface="Calibri"/>
                <a:sym typeface="Calibri"/>
              </a:rPr>
              <a:t>Resized to 256 x 256 pixels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n-SG" sz="1800">
                <a:solidFill>
                  <a:schemeClr val="dk1"/>
                </a:solidFill>
                <a:latin typeface="Calibri"/>
                <a:ea typeface="Calibri"/>
                <a:cs typeface="Calibri"/>
                <a:sym typeface="Calibri"/>
              </a:rPr>
              <a:t>[0,1] normalized for supervised; [-1,1] normalized for GANs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eriod"/>
            </a:pPr>
            <a:r>
              <a:rPr lang="en-SG" sz="1800">
                <a:solidFill>
                  <a:schemeClr val="dk1"/>
                </a:solidFill>
                <a:latin typeface="Calibri"/>
                <a:ea typeface="Calibri"/>
                <a:cs typeface="Calibri"/>
                <a:sym typeface="Calibri"/>
              </a:rPr>
              <a:t>Prevented information leakage: </a:t>
            </a:r>
            <a:endParaRPr sz="1800">
              <a:solidFill>
                <a:schemeClr val="dk1"/>
              </a:solidFill>
              <a:latin typeface="Calibri"/>
              <a:ea typeface="Calibri"/>
              <a:cs typeface="Calibri"/>
              <a:sym typeface="Calibri"/>
            </a:endParaRPr>
          </a:p>
        </p:txBody>
      </p:sp>
      <p:pic>
        <p:nvPicPr>
          <p:cNvPr id="173" name="Google Shape;173;p24"/>
          <p:cNvPicPr preferRelativeResize="0"/>
          <p:nvPr/>
        </p:nvPicPr>
        <p:blipFill>
          <a:blip r:embed="rId4">
            <a:alphaModFix/>
          </a:blip>
          <a:stretch>
            <a:fillRect/>
          </a:stretch>
        </p:blipFill>
        <p:spPr>
          <a:xfrm>
            <a:off x="3993900" y="2339050"/>
            <a:ext cx="7977626" cy="3369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nvSpPr>
        <p:spPr>
          <a:xfrm>
            <a:off x="1306100" y="2285400"/>
            <a:ext cx="87195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Calibri"/>
              <a:buChar char="●"/>
            </a:pPr>
            <a:r>
              <a:rPr lang="en-SG" sz="1800">
                <a:solidFill>
                  <a:schemeClr val="dk1"/>
                </a:solidFill>
                <a:latin typeface="Calibri"/>
                <a:ea typeface="Calibri"/>
                <a:cs typeface="Calibri"/>
                <a:sym typeface="Calibri"/>
              </a:rPr>
              <a:t>3 major approaches:</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SG" sz="1800">
                <a:solidFill>
                  <a:schemeClr val="dk1"/>
                </a:solidFill>
                <a:latin typeface="Calibri"/>
                <a:ea typeface="Calibri"/>
                <a:cs typeface="Calibri"/>
                <a:sym typeface="Calibri"/>
              </a:rPr>
              <a:t>Fully supervised learning</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SG" sz="1800">
                <a:solidFill>
                  <a:schemeClr val="dk1"/>
                </a:solidFill>
                <a:latin typeface="Calibri"/>
                <a:ea typeface="Calibri"/>
                <a:cs typeface="Calibri"/>
                <a:sym typeface="Calibri"/>
              </a:rPr>
              <a:t>Unpaired CycleGAN learning</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SG" sz="1800">
                <a:solidFill>
                  <a:schemeClr val="dk1"/>
                </a:solidFill>
                <a:latin typeface="Calibri"/>
                <a:ea typeface="Calibri"/>
                <a:cs typeface="Calibri"/>
                <a:sym typeface="Calibri"/>
              </a:rPr>
              <a:t>Semi supervised (hybrid) learning</a:t>
            </a:r>
            <a:endParaRPr sz="1800">
              <a:solidFill>
                <a:schemeClr val="dk1"/>
              </a:solidFill>
              <a:latin typeface="Calibri"/>
              <a:ea typeface="Calibri"/>
              <a:cs typeface="Calibri"/>
              <a:sym typeface="Calibri"/>
            </a:endParaRPr>
          </a:p>
        </p:txBody>
      </p:sp>
      <p:pic>
        <p:nvPicPr>
          <p:cNvPr id="179" name="Google Shape;179;p25"/>
          <p:cNvPicPr preferRelativeResize="0"/>
          <p:nvPr/>
        </p:nvPicPr>
        <p:blipFill>
          <a:blip r:embed="rId3">
            <a:alphaModFix/>
          </a:blip>
          <a:stretch>
            <a:fillRect/>
          </a:stretch>
        </p:blipFill>
        <p:spPr>
          <a:xfrm>
            <a:off x="1306097" y="6135025"/>
            <a:ext cx="1634929" cy="304650"/>
          </a:xfrm>
          <a:prstGeom prst="rect">
            <a:avLst/>
          </a:prstGeom>
          <a:noFill/>
          <a:ln>
            <a:noFill/>
          </a:ln>
        </p:spPr>
      </p:pic>
      <p:sp>
        <p:nvSpPr>
          <p:cNvPr id="180" name="Google Shape;180;p25"/>
          <p:cNvSpPr txBox="1"/>
          <p:nvPr/>
        </p:nvSpPr>
        <p:spPr>
          <a:xfrm>
            <a:off x="806426" y="1140887"/>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Method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p26"/>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187" name="Google Shape;187;p26"/>
          <p:cNvSpPr txBox="1"/>
          <p:nvPr/>
        </p:nvSpPr>
        <p:spPr>
          <a:xfrm>
            <a:off x="793376" y="632012"/>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Method - Fully Supervised Learning</a:t>
            </a:r>
            <a:endParaRPr sz="1100"/>
          </a:p>
        </p:txBody>
      </p:sp>
      <p:sp>
        <p:nvSpPr>
          <p:cNvPr id="188" name="Google Shape;188;p26"/>
          <p:cNvSpPr txBox="1"/>
          <p:nvPr/>
        </p:nvSpPr>
        <p:spPr>
          <a:xfrm>
            <a:off x="1542525" y="1676050"/>
            <a:ext cx="6558900" cy="1416000"/>
          </a:xfrm>
          <a:prstGeom prst="rect">
            <a:avLst/>
          </a:prstGeom>
          <a:noFill/>
          <a:ln>
            <a:noFill/>
          </a:ln>
        </p:spPr>
        <p:txBody>
          <a:bodyPr anchorCtr="0" anchor="t" bIns="45700" lIns="91425" spcFirstLastPara="1" rIns="91425" wrap="square" tIns="45700">
            <a:spAutoFit/>
          </a:bodyPr>
          <a:lstStyle/>
          <a:p>
            <a:pPr indent="-298450" lvl="0" marL="285750" marR="0" rtl="0" algn="l">
              <a:spcBef>
                <a:spcPts val="0"/>
              </a:spcBef>
              <a:spcAft>
                <a:spcPts val="0"/>
              </a:spcAft>
              <a:buClr>
                <a:schemeClr val="dk1"/>
              </a:buClr>
              <a:buSzPts val="2000"/>
              <a:buFont typeface="Arial"/>
              <a:buChar char="•"/>
            </a:pPr>
            <a:r>
              <a:rPr lang="en-SG" sz="1600"/>
              <a:t>Used only paired image-mask from Set A </a:t>
            </a:r>
            <a:endParaRPr sz="1600"/>
          </a:p>
          <a:p>
            <a:pPr indent="-273050" lvl="0" marL="285750" marR="0" rtl="0" algn="l">
              <a:spcBef>
                <a:spcPts val="0"/>
              </a:spcBef>
              <a:spcAft>
                <a:spcPts val="0"/>
              </a:spcAft>
              <a:buSzPts val="1600"/>
              <a:buChar char="•"/>
            </a:pPr>
            <a:r>
              <a:rPr lang="en-SG" sz="1600"/>
              <a:t>Trained with U-NET++ (pretrained: ImageNet; encoder: ResNet-101)</a:t>
            </a:r>
            <a:endParaRPr sz="1600"/>
          </a:p>
          <a:p>
            <a:pPr indent="-273050" lvl="0" marL="285750" marR="0" rtl="0" algn="l">
              <a:spcBef>
                <a:spcPts val="0"/>
              </a:spcBef>
              <a:spcAft>
                <a:spcPts val="0"/>
              </a:spcAft>
              <a:buSzPts val="1600"/>
              <a:buChar char="•"/>
            </a:pPr>
            <a:r>
              <a:rPr lang="en-SG" sz="1600"/>
              <a:t>Dice Loss: </a:t>
            </a:r>
            <a:r>
              <a:rPr b="1" i="1" lang="en-SG" sz="1600"/>
              <a:t>1 - DS = 1 - 2TP/ 2TP + FP + FN</a:t>
            </a:r>
            <a:endParaRPr sz="1600"/>
          </a:p>
          <a:p>
            <a:pPr indent="0" lvl="0" marL="457200" marR="0" rtl="0" algn="l">
              <a:spcBef>
                <a:spcPts val="0"/>
              </a:spcBef>
              <a:spcAft>
                <a:spcPts val="0"/>
              </a:spcAft>
              <a:buNone/>
            </a:pPr>
            <a:r>
              <a:t/>
            </a:r>
            <a:endParaRPr sz="1800"/>
          </a:p>
        </p:txBody>
      </p:sp>
      <p:sp>
        <p:nvSpPr>
          <p:cNvPr id="189" name="Google Shape;189;p26"/>
          <p:cNvSpPr/>
          <p:nvPr/>
        </p:nvSpPr>
        <p:spPr>
          <a:xfrm>
            <a:off x="3644900" y="3441702"/>
            <a:ext cx="2796000" cy="1563300"/>
          </a:xfrm>
          <a:prstGeom prst="roundRect">
            <a:avLst>
              <a:gd fmla="val 16667" name="adj"/>
            </a:avLst>
          </a:prstGeom>
          <a:solidFill>
            <a:srgbClr val="A4C2F4"/>
          </a:solidFill>
          <a:ln cap="flat" cmpd="sng" w="8475">
            <a:solidFill>
              <a:schemeClr val="dk2"/>
            </a:solidFill>
            <a:prstDash val="solid"/>
            <a:round/>
            <a:headEnd len="sm" w="sm" type="none"/>
            <a:tailEnd len="sm" w="sm" type="none"/>
          </a:ln>
        </p:spPr>
        <p:txBody>
          <a:bodyPr anchorCtr="0" anchor="ctr" bIns="81250" lIns="81250" spcFirstLastPara="1" rIns="81250" wrap="square" tIns="81250">
            <a:noAutofit/>
          </a:bodyPr>
          <a:lstStyle/>
          <a:p>
            <a:pPr indent="0" lvl="0" marL="0" rtl="0" algn="ctr">
              <a:spcBef>
                <a:spcPts val="0"/>
              </a:spcBef>
              <a:spcAft>
                <a:spcPts val="0"/>
              </a:spcAft>
              <a:buNone/>
            </a:pPr>
            <a:r>
              <a:t/>
            </a:r>
            <a:endParaRPr sz="1244">
              <a:latin typeface="Calibri"/>
              <a:ea typeface="Calibri"/>
              <a:cs typeface="Calibri"/>
              <a:sym typeface="Calibri"/>
            </a:endParaRPr>
          </a:p>
        </p:txBody>
      </p:sp>
      <p:sp>
        <p:nvSpPr>
          <p:cNvPr id="190" name="Google Shape;190;p26"/>
          <p:cNvSpPr/>
          <p:nvPr/>
        </p:nvSpPr>
        <p:spPr>
          <a:xfrm>
            <a:off x="8152350" y="3441689"/>
            <a:ext cx="1487100" cy="1563300"/>
          </a:xfrm>
          <a:prstGeom prst="roundRect">
            <a:avLst>
              <a:gd fmla="val 16667" name="adj"/>
            </a:avLst>
          </a:prstGeom>
          <a:solidFill>
            <a:srgbClr val="A4C2F4"/>
          </a:solidFill>
          <a:ln cap="flat" cmpd="sng" w="8475">
            <a:solidFill>
              <a:srgbClr val="A4C2F4"/>
            </a:solidFill>
            <a:prstDash val="solid"/>
            <a:round/>
            <a:headEnd len="sm" w="sm" type="none"/>
            <a:tailEnd len="sm" w="sm" type="none"/>
          </a:ln>
        </p:spPr>
        <p:txBody>
          <a:bodyPr anchorCtr="0" anchor="ctr" bIns="81250" lIns="81250" spcFirstLastPara="1" rIns="81250" wrap="square" tIns="81250">
            <a:noAutofit/>
          </a:bodyPr>
          <a:lstStyle/>
          <a:p>
            <a:pPr indent="0" lvl="0" marL="0" rtl="0" algn="ctr">
              <a:spcBef>
                <a:spcPts val="0"/>
              </a:spcBef>
              <a:spcAft>
                <a:spcPts val="0"/>
              </a:spcAft>
              <a:buNone/>
            </a:pPr>
            <a:r>
              <a:t/>
            </a:r>
            <a:endParaRPr sz="1244">
              <a:latin typeface="Calibri"/>
              <a:ea typeface="Calibri"/>
              <a:cs typeface="Calibri"/>
              <a:sym typeface="Calibri"/>
            </a:endParaRPr>
          </a:p>
        </p:txBody>
      </p:sp>
      <p:pic>
        <p:nvPicPr>
          <p:cNvPr id="191" name="Google Shape;191;p26" title="us_p1.png"/>
          <p:cNvPicPr preferRelativeResize="0"/>
          <p:nvPr/>
        </p:nvPicPr>
        <p:blipFill>
          <a:blip r:embed="rId3">
            <a:alphaModFix/>
          </a:blip>
          <a:stretch>
            <a:fillRect/>
          </a:stretch>
        </p:blipFill>
        <p:spPr>
          <a:xfrm>
            <a:off x="4122250" y="3806501"/>
            <a:ext cx="831375" cy="833706"/>
          </a:xfrm>
          <a:prstGeom prst="rect">
            <a:avLst/>
          </a:prstGeom>
          <a:solidFill>
            <a:schemeClr val="lt1"/>
          </a:solidFill>
          <a:ln>
            <a:noFill/>
          </a:ln>
        </p:spPr>
      </p:pic>
      <p:pic>
        <p:nvPicPr>
          <p:cNvPr id="192" name="Google Shape;192;p26" title="mask_p1.png"/>
          <p:cNvPicPr preferRelativeResize="0"/>
          <p:nvPr/>
        </p:nvPicPr>
        <p:blipFill>
          <a:blip r:embed="rId4">
            <a:alphaModFix/>
          </a:blip>
          <a:stretch>
            <a:fillRect/>
          </a:stretch>
        </p:blipFill>
        <p:spPr>
          <a:xfrm>
            <a:off x="5080100" y="3809987"/>
            <a:ext cx="831301" cy="826721"/>
          </a:xfrm>
          <a:prstGeom prst="rect">
            <a:avLst/>
          </a:prstGeom>
          <a:solidFill>
            <a:schemeClr val="lt1"/>
          </a:solidFill>
          <a:ln>
            <a:noFill/>
          </a:ln>
        </p:spPr>
      </p:pic>
      <p:sp>
        <p:nvSpPr>
          <p:cNvPr id="193" name="Google Shape;193;p26"/>
          <p:cNvSpPr txBox="1"/>
          <p:nvPr/>
        </p:nvSpPr>
        <p:spPr>
          <a:xfrm>
            <a:off x="4225400" y="3410850"/>
            <a:ext cx="1635000" cy="386400"/>
          </a:xfrm>
          <a:prstGeom prst="rect">
            <a:avLst/>
          </a:prstGeom>
          <a:noFill/>
          <a:ln>
            <a:noFill/>
          </a:ln>
        </p:spPr>
        <p:txBody>
          <a:bodyPr anchorCtr="0" anchor="t" bIns="81250" lIns="81250" spcFirstLastPara="1" rIns="81250" wrap="square" tIns="81250">
            <a:spAutoFit/>
          </a:bodyPr>
          <a:lstStyle/>
          <a:p>
            <a:pPr indent="0" lvl="0" marL="0" rtl="0" algn="l">
              <a:spcBef>
                <a:spcPts val="0"/>
              </a:spcBef>
              <a:spcAft>
                <a:spcPts val="0"/>
              </a:spcAft>
              <a:buNone/>
            </a:pPr>
            <a:r>
              <a:rPr lang="en-SG" sz="1444">
                <a:solidFill>
                  <a:schemeClr val="dk1"/>
                </a:solidFill>
                <a:latin typeface="Calibri"/>
                <a:ea typeface="Calibri"/>
                <a:cs typeface="Calibri"/>
                <a:sym typeface="Calibri"/>
              </a:rPr>
              <a:t>Paired image-mask</a:t>
            </a:r>
            <a:endParaRPr sz="1444">
              <a:solidFill>
                <a:schemeClr val="dk1"/>
              </a:solidFill>
              <a:latin typeface="Calibri"/>
              <a:ea typeface="Calibri"/>
              <a:cs typeface="Calibri"/>
              <a:sym typeface="Calibri"/>
            </a:endParaRPr>
          </a:p>
        </p:txBody>
      </p:sp>
      <p:sp>
        <p:nvSpPr>
          <p:cNvPr id="194" name="Google Shape;194;p26"/>
          <p:cNvSpPr txBox="1"/>
          <p:nvPr/>
        </p:nvSpPr>
        <p:spPr>
          <a:xfrm>
            <a:off x="4451000" y="4649450"/>
            <a:ext cx="1183800" cy="386400"/>
          </a:xfrm>
          <a:prstGeom prst="rect">
            <a:avLst/>
          </a:prstGeom>
          <a:noFill/>
          <a:ln>
            <a:noFill/>
          </a:ln>
        </p:spPr>
        <p:txBody>
          <a:bodyPr anchorCtr="0" anchor="t" bIns="81250" lIns="81250" spcFirstLastPara="1" rIns="81250" wrap="square" tIns="81250">
            <a:spAutoFit/>
          </a:bodyPr>
          <a:lstStyle/>
          <a:p>
            <a:pPr indent="0" lvl="0" marL="0" rtl="0" algn="l">
              <a:spcBef>
                <a:spcPts val="0"/>
              </a:spcBef>
              <a:spcAft>
                <a:spcPts val="0"/>
              </a:spcAft>
              <a:buNone/>
            </a:pPr>
            <a:r>
              <a:rPr lang="en-SG" sz="1444">
                <a:solidFill>
                  <a:schemeClr val="dk1"/>
                </a:solidFill>
                <a:latin typeface="Calibri"/>
                <a:ea typeface="Calibri"/>
                <a:cs typeface="Calibri"/>
                <a:sym typeface="Calibri"/>
              </a:rPr>
              <a:t>same patient</a:t>
            </a:r>
            <a:endParaRPr sz="1444">
              <a:solidFill>
                <a:schemeClr val="dk1"/>
              </a:solidFill>
              <a:latin typeface="Calibri"/>
              <a:ea typeface="Calibri"/>
              <a:cs typeface="Calibri"/>
              <a:sym typeface="Calibri"/>
            </a:endParaRPr>
          </a:p>
        </p:txBody>
      </p:sp>
      <p:pic>
        <p:nvPicPr>
          <p:cNvPr id="195" name="Google Shape;195;p26" title="pred_p1.png"/>
          <p:cNvPicPr preferRelativeResize="0"/>
          <p:nvPr/>
        </p:nvPicPr>
        <p:blipFill>
          <a:blip r:embed="rId5">
            <a:alphaModFix/>
          </a:blip>
          <a:stretch>
            <a:fillRect/>
          </a:stretch>
        </p:blipFill>
        <p:spPr>
          <a:xfrm>
            <a:off x="8452750" y="3747200"/>
            <a:ext cx="886248" cy="891175"/>
          </a:xfrm>
          <a:prstGeom prst="rect">
            <a:avLst/>
          </a:prstGeom>
          <a:solidFill>
            <a:schemeClr val="lt1"/>
          </a:solidFill>
          <a:ln>
            <a:noFill/>
          </a:ln>
        </p:spPr>
      </p:pic>
      <p:sp>
        <p:nvSpPr>
          <p:cNvPr id="196" name="Google Shape;196;p26"/>
          <p:cNvSpPr txBox="1"/>
          <p:nvPr/>
        </p:nvSpPr>
        <p:spPr>
          <a:xfrm>
            <a:off x="8406727" y="3410838"/>
            <a:ext cx="978300" cy="386400"/>
          </a:xfrm>
          <a:prstGeom prst="rect">
            <a:avLst/>
          </a:prstGeom>
          <a:noFill/>
          <a:ln>
            <a:noFill/>
          </a:ln>
        </p:spPr>
        <p:txBody>
          <a:bodyPr anchorCtr="0" anchor="t" bIns="81250" lIns="81250" spcFirstLastPara="1" rIns="81250" wrap="square" tIns="81250">
            <a:spAutoFit/>
          </a:bodyPr>
          <a:lstStyle/>
          <a:p>
            <a:pPr indent="0" lvl="0" marL="0" rtl="0" algn="l">
              <a:spcBef>
                <a:spcPts val="0"/>
              </a:spcBef>
              <a:spcAft>
                <a:spcPts val="0"/>
              </a:spcAft>
              <a:buNone/>
            </a:pPr>
            <a:r>
              <a:rPr lang="en-SG" sz="1444">
                <a:solidFill>
                  <a:schemeClr val="dk1"/>
                </a:solidFill>
                <a:latin typeface="Calibri"/>
                <a:ea typeface="Calibri"/>
                <a:cs typeface="Calibri"/>
                <a:sym typeface="Calibri"/>
              </a:rPr>
              <a:t>Prediction</a:t>
            </a:r>
            <a:endParaRPr sz="1444">
              <a:solidFill>
                <a:schemeClr val="dk1"/>
              </a:solidFill>
              <a:latin typeface="Calibri"/>
              <a:ea typeface="Calibri"/>
              <a:cs typeface="Calibri"/>
              <a:sym typeface="Calibri"/>
            </a:endParaRPr>
          </a:p>
        </p:txBody>
      </p:sp>
      <p:sp>
        <p:nvSpPr>
          <p:cNvPr id="197" name="Google Shape;197;p26"/>
          <p:cNvSpPr txBox="1"/>
          <p:nvPr/>
        </p:nvSpPr>
        <p:spPr>
          <a:xfrm>
            <a:off x="8303975" y="4649463"/>
            <a:ext cx="1183800" cy="386400"/>
          </a:xfrm>
          <a:prstGeom prst="rect">
            <a:avLst/>
          </a:prstGeom>
          <a:noFill/>
          <a:ln>
            <a:noFill/>
          </a:ln>
        </p:spPr>
        <p:txBody>
          <a:bodyPr anchorCtr="0" anchor="t" bIns="81250" lIns="81250" spcFirstLastPara="1" rIns="81250" wrap="square" tIns="81250">
            <a:spAutoFit/>
          </a:bodyPr>
          <a:lstStyle/>
          <a:p>
            <a:pPr indent="0" lvl="0" marL="0" rtl="0" algn="l">
              <a:spcBef>
                <a:spcPts val="0"/>
              </a:spcBef>
              <a:spcAft>
                <a:spcPts val="0"/>
              </a:spcAft>
              <a:buNone/>
            </a:pPr>
            <a:r>
              <a:rPr lang="en-SG" sz="1444">
                <a:solidFill>
                  <a:schemeClr val="dk1"/>
                </a:solidFill>
                <a:latin typeface="Calibri"/>
                <a:ea typeface="Calibri"/>
                <a:cs typeface="Calibri"/>
                <a:sym typeface="Calibri"/>
              </a:rPr>
              <a:t>C x 256 x 256</a:t>
            </a:r>
            <a:endParaRPr sz="1444">
              <a:solidFill>
                <a:schemeClr val="dk1"/>
              </a:solidFill>
              <a:latin typeface="Calibri"/>
              <a:ea typeface="Calibri"/>
              <a:cs typeface="Calibri"/>
              <a:sym typeface="Calibri"/>
            </a:endParaRPr>
          </a:p>
        </p:txBody>
      </p:sp>
      <p:sp>
        <p:nvSpPr>
          <p:cNvPr id="198" name="Google Shape;198;p26"/>
          <p:cNvSpPr txBox="1"/>
          <p:nvPr/>
        </p:nvSpPr>
        <p:spPr>
          <a:xfrm>
            <a:off x="6479115" y="3607750"/>
            <a:ext cx="1635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chemeClr val="dk1"/>
              </a:solidFill>
              <a:latin typeface="Calibri"/>
              <a:ea typeface="Calibri"/>
              <a:cs typeface="Calibri"/>
              <a:sym typeface="Calibri"/>
            </a:endParaRPr>
          </a:p>
          <a:p>
            <a:pPr indent="0" lvl="0" marL="0" rtl="0" algn="l">
              <a:spcBef>
                <a:spcPts val="0"/>
              </a:spcBef>
              <a:spcAft>
                <a:spcPts val="0"/>
              </a:spcAft>
              <a:buNone/>
            </a:pPr>
            <a:r>
              <a:rPr b="1" lang="en-SG">
                <a:solidFill>
                  <a:schemeClr val="dk1"/>
                </a:solidFill>
                <a:latin typeface="Calibri"/>
                <a:ea typeface="Calibri"/>
                <a:cs typeface="Calibri"/>
                <a:sym typeface="Calibri"/>
              </a:rPr>
              <a:t>UNET++ ResNet101 </a:t>
            </a:r>
            <a:endParaRPr b="1">
              <a:solidFill>
                <a:schemeClr val="dk1"/>
              </a:solidFill>
              <a:latin typeface="Calibri"/>
              <a:ea typeface="Calibri"/>
              <a:cs typeface="Calibri"/>
              <a:sym typeface="Calibri"/>
            </a:endParaRPr>
          </a:p>
          <a:p>
            <a:pPr indent="0" lvl="0" marL="0" rtl="0" algn="l">
              <a:spcBef>
                <a:spcPts val="0"/>
              </a:spcBef>
              <a:spcAft>
                <a:spcPts val="0"/>
              </a:spcAft>
              <a:buNone/>
            </a:pPr>
            <a:r>
              <a:t/>
            </a:r>
            <a:endParaRPr b="1">
              <a:solidFill>
                <a:schemeClr val="dk1"/>
              </a:solidFill>
              <a:latin typeface="Calibri"/>
              <a:ea typeface="Calibri"/>
              <a:cs typeface="Calibri"/>
              <a:sym typeface="Calibri"/>
            </a:endParaRPr>
          </a:p>
          <a:p>
            <a:pPr indent="0" lvl="0" marL="0" rtl="0" algn="l">
              <a:spcBef>
                <a:spcPts val="0"/>
              </a:spcBef>
              <a:spcAft>
                <a:spcPts val="0"/>
              </a:spcAft>
              <a:buNone/>
            </a:pPr>
            <a:r>
              <a:rPr b="1" lang="en-SG">
                <a:solidFill>
                  <a:schemeClr val="dk1"/>
                </a:solidFill>
                <a:latin typeface="Calibri"/>
                <a:ea typeface="Calibri"/>
                <a:cs typeface="Calibri"/>
                <a:sym typeface="Calibri"/>
              </a:rPr>
              <a:t>ImageNet Encoder</a:t>
            </a:r>
            <a:endParaRPr b="1">
              <a:solidFill>
                <a:schemeClr val="dk1"/>
              </a:solidFill>
              <a:latin typeface="Calibri"/>
              <a:ea typeface="Calibri"/>
              <a:cs typeface="Calibri"/>
              <a:sym typeface="Calibri"/>
            </a:endParaRPr>
          </a:p>
        </p:txBody>
      </p:sp>
      <p:cxnSp>
        <p:nvCxnSpPr>
          <p:cNvPr id="199" name="Google Shape;199;p26"/>
          <p:cNvCxnSpPr>
            <a:stCxn id="189" idx="3"/>
            <a:endCxn id="190" idx="1"/>
          </p:cNvCxnSpPr>
          <p:nvPr/>
        </p:nvCxnSpPr>
        <p:spPr>
          <a:xfrm>
            <a:off x="6440900" y="4223352"/>
            <a:ext cx="1711500" cy="0"/>
          </a:xfrm>
          <a:prstGeom prst="straightConnector1">
            <a:avLst/>
          </a:prstGeom>
          <a:noFill/>
          <a:ln cap="flat" cmpd="sng" w="9525">
            <a:solidFill>
              <a:schemeClr val="dk2"/>
            </a:solidFill>
            <a:prstDash val="solid"/>
            <a:round/>
            <a:headEnd len="med" w="med" type="none"/>
            <a:tailEnd len="med" w="med" type="triangle"/>
          </a:ln>
        </p:spPr>
      </p:cxnSp>
      <p:pic>
        <p:nvPicPr>
          <p:cNvPr id="200" name="Google Shape;200;p26"/>
          <p:cNvPicPr preferRelativeResize="0"/>
          <p:nvPr/>
        </p:nvPicPr>
        <p:blipFill>
          <a:blip r:embed="rId6">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27"/>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207" name="Google Shape;207;p27"/>
          <p:cNvSpPr txBox="1"/>
          <p:nvPr/>
        </p:nvSpPr>
        <p:spPr>
          <a:xfrm>
            <a:off x="793376" y="632012"/>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Method - </a:t>
            </a:r>
            <a:r>
              <a:rPr b="1" lang="en-SG" sz="2500">
                <a:solidFill>
                  <a:schemeClr val="dk1"/>
                </a:solidFill>
                <a:latin typeface="Calibri"/>
                <a:ea typeface="Calibri"/>
                <a:cs typeface="Calibri"/>
                <a:sym typeface="Calibri"/>
              </a:rPr>
              <a:t>Unpaired CycleGAN Learning</a:t>
            </a:r>
            <a:endParaRPr sz="1100"/>
          </a:p>
        </p:txBody>
      </p:sp>
      <p:sp>
        <p:nvSpPr>
          <p:cNvPr id="208" name="Google Shape;208;p27"/>
          <p:cNvSpPr txBox="1"/>
          <p:nvPr/>
        </p:nvSpPr>
        <p:spPr>
          <a:xfrm>
            <a:off x="924675" y="1290250"/>
            <a:ext cx="5466600" cy="2124000"/>
          </a:xfrm>
          <a:prstGeom prst="rect">
            <a:avLst/>
          </a:prstGeom>
          <a:noFill/>
          <a:ln>
            <a:noFill/>
          </a:ln>
        </p:spPr>
        <p:txBody>
          <a:bodyPr anchorCtr="0" anchor="t" bIns="45700" lIns="91425" spcFirstLastPara="1" rIns="91425" wrap="square" tIns="45700">
            <a:spAutoFit/>
          </a:bodyPr>
          <a:lstStyle/>
          <a:p>
            <a:pPr indent="-298450" lvl="0" marL="285750" marR="0" rtl="0" algn="l">
              <a:spcBef>
                <a:spcPts val="0"/>
              </a:spcBef>
              <a:spcAft>
                <a:spcPts val="0"/>
              </a:spcAft>
              <a:buClr>
                <a:schemeClr val="dk1"/>
              </a:buClr>
              <a:buSzPts val="2000"/>
              <a:buFont typeface="Arial"/>
              <a:buChar char="•"/>
            </a:pPr>
            <a:r>
              <a:rPr lang="en-SG" sz="1600"/>
              <a:t>Used images from Set A and masks from Set B</a:t>
            </a:r>
            <a:endParaRPr sz="1600"/>
          </a:p>
          <a:p>
            <a:pPr indent="-273050" lvl="0" marL="285750" marR="0" rtl="0" algn="l">
              <a:spcBef>
                <a:spcPts val="0"/>
              </a:spcBef>
              <a:spcAft>
                <a:spcPts val="0"/>
              </a:spcAft>
              <a:buSzPts val="1600"/>
              <a:buChar char="•"/>
            </a:pPr>
            <a:r>
              <a:rPr lang="en-SG" sz="1600"/>
              <a:t>Two generator-discriminator pairs: </a:t>
            </a:r>
            <a:endParaRPr sz="1600"/>
          </a:p>
          <a:p>
            <a:pPr indent="-330200" lvl="1" marL="914400" marR="0" rtl="0" algn="l">
              <a:spcBef>
                <a:spcPts val="0"/>
              </a:spcBef>
              <a:spcAft>
                <a:spcPts val="0"/>
              </a:spcAft>
              <a:buSzPts val="1600"/>
              <a:buChar char="○"/>
            </a:pPr>
            <a:r>
              <a:rPr lang="en-SG" sz="1600"/>
              <a:t>G</a:t>
            </a:r>
            <a:r>
              <a:rPr baseline="-25000" lang="en-SG" sz="1600"/>
              <a:t>A→B</a:t>
            </a:r>
            <a:r>
              <a:rPr lang="en-SG" sz="1600"/>
              <a:t> (US →mask) and G</a:t>
            </a:r>
            <a:r>
              <a:rPr baseline="-25000" lang="en-SG" sz="1600"/>
              <a:t>B→A</a:t>
            </a:r>
            <a:r>
              <a:rPr lang="en-SG" sz="1600"/>
              <a:t> (mask→US)</a:t>
            </a:r>
            <a:endParaRPr sz="1600"/>
          </a:p>
          <a:p>
            <a:pPr indent="-330200" lvl="1" marL="914400" marR="0" rtl="0" algn="l">
              <a:spcBef>
                <a:spcPts val="0"/>
              </a:spcBef>
              <a:spcAft>
                <a:spcPts val="0"/>
              </a:spcAft>
              <a:buSzPts val="1600"/>
              <a:buChar char="○"/>
            </a:pPr>
            <a:r>
              <a:rPr lang="en-SG" sz="1600"/>
              <a:t>PatchGAN discriminator (D</a:t>
            </a:r>
            <a:r>
              <a:rPr baseline="-25000" lang="en-SG" sz="1600"/>
              <a:t>A</a:t>
            </a:r>
            <a:r>
              <a:rPr lang="en-SG" sz="1600"/>
              <a:t> and D</a:t>
            </a:r>
            <a:r>
              <a:rPr baseline="-25000" lang="en-SG" sz="1600"/>
              <a:t>B</a:t>
            </a:r>
            <a:r>
              <a:rPr lang="en-SG" sz="1600"/>
              <a:t>)</a:t>
            </a:r>
            <a:endParaRPr baseline="-25000" sz="1600"/>
          </a:p>
          <a:p>
            <a:pPr indent="-330200" lvl="0" marL="457200" marR="0" rtl="0" algn="l">
              <a:spcBef>
                <a:spcPts val="0"/>
              </a:spcBef>
              <a:spcAft>
                <a:spcPts val="0"/>
              </a:spcAft>
              <a:buSzPts val="1600"/>
              <a:buChar char="•"/>
            </a:pPr>
            <a:r>
              <a:rPr lang="en-SG" sz="1600"/>
              <a:t>Generators have U-Net++ backbones &amp; ResNet-101 encoders</a:t>
            </a:r>
            <a:endParaRPr sz="1600"/>
          </a:p>
          <a:p>
            <a:pPr indent="-330200" lvl="0" marL="457200" marR="0" rtl="0" algn="l">
              <a:spcBef>
                <a:spcPts val="0"/>
              </a:spcBef>
              <a:spcAft>
                <a:spcPts val="0"/>
              </a:spcAft>
              <a:buSzPts val="1600"/>
              <a:buChar char="•"/>
            </a:pPr>
            <a:r>
              <a:rPr lang="en-SG" sz="1600"/>
              <a:t>Loss: </a:t>
            </a:r>
            <a:r>
              <a:rPr b="1" lang="en-SG" sz="1600"/>
              <a:t>ℒ</a:t>
            </a:r>
            <a:r>
              <a:rPr b="1" baseline="30000" lang="en-SG" sz="1600"/>
              <a:t>A</a:t>
            </a:r>
            <a:r>
              <a:rPr b="1" baseline="-25000" lang="en-SG" sz="1600"/>
              <a:t>adv</a:t>
            </a:r>
            <a:r>
              <a:rPr b="1" lang="en-SG" sz="1600"/>
              <a:t> + ℒ</a:t>
            </a:r>
            <a:r>
              <a:rPr b="1" baseline="30000" lang="en-SG" sz="1600"/>
              <a:t>B</a:t>
            </a:r>
            <a:r>
              <a:rPr b="1" baseline="-25000" lang="en-SG" sz="1600"/>
              <a:t>adv</a:t>
            </a:r>
            <a:r>
              <a:rPr b="1" lang="en-SG" sz="1600"/>
              <a:t> + ℒ</a:t>
            </a:r>
            <a:r>
              <a:rPr b="1" baseline="30000" lang="en-SG" sz="1600"/>
              <a:t>A</a:t>
            </a:r>
            <a:r>
              <a:rPr b="1" baseline="-25000" lang="en-SG" sz="1600"/>
              <a:t>cyc</a:t>
            </a:r>
            <a:r>
              <a:rPr b="1" lang="en-SG" sz="1600"/>
              <a:t> + ℒ</a:t>
            </a:r>
            <a:r>
              <a:rPr b="1" baseline="30000" lang="en-SG" sz="1600"/>
              <a:t>B</a:t>
            </a:r>
            <a:r>
              <a:rPr b="1" baseline="-25000" lang="en-SG" sz="1600"/>
              <a:t>cyc</a:t>
            </a:r>
            <a:r>
              <a:rPr b="1" lang="en-SG" sz="1600"/>
              <a:t> (+ ℒ</a:t>
            </a:r>
            <a:r>
              <a:rPr b="1" baseline="-25000" lang="en-SG" sz="1600"/>
              <a:t>id</a:t>
            </a:r>
            <a:r>
              <a:rPr b="1" lang="en-SG" sz="1600"/>
              <a:t> binary only</a:t>
            </a:r>
            <a:r>
              <a:rPr lang="en-SG" sz="1600"/>
              <a:t>)</a:t>
            </a:r>
            <a:endParaRPr sz="1600"/>
          </a:p>
          <a:p>
            <a:pPr indent="-330200" lvl="0" marL="457200" marR="0" rtl="0" algn="l">
              <a:spcBef>
                <a:spcPts val="0"/>
              </a:spcBef>
              <a:spcAft>
                <a:spcPts val="0"/>
              </a:spcAft>
              <a:buSzPts val="1600"/>
              <a:buChar char="•"/>
            </a:pPr>
            <a:r>
              <a:rPr lang="en-SG" sz="1600"/>
              <a:t>Segmentation model = G</a:t>
            </a:r>
            <a:r>
              <a:rPr baseline="-25000" lang="en-SG" sz="1600"/>
              <a:t>A→B</a:t>
            </a:r>
            <a:r>
              <a:rPr lang="en-SG" sz="1600"/>
              <a:t> at inference</a:t>
            </a:r>
            <a:endParaRPr sz="1600"/>
          </a:p>
        </p:txBody>
      </p:sp>
      <p:sp>
        <p:nvSpPr>
          <p:cNvPr id="209" name="Google Shape;209;p27"/>
          <p:cNvSpPr/>
          <p:nvPr/>
        </p:nvSpPr>
        <p:spPr>
          <a:xfrm>
            <a:off x="4876625" y="4275425"/>
            <a:ext cx="2366700" cy="1377900"/>
          </a:xfrm>
          <a:prstGeom prst="roundRect">
            <a:avLst>
              <a:gd fmla="val 16667" name="adj"/>
            </a:avLst>
          </a:prstGeom>
          <a:solidFill>
            <a:srgbClr val="A4C2F4"/>
          </a:solidFill>
          <a:ln cap="flat" cmpd="sng" w="8550">
            <a:solidFill>
              <a:srgbClr val="A4C2F4"/>
            </a:solidFill>
            <a:prstDash val="solid"/>
            <a:round/>
            <a:headEnd len="sm" w="sm" type="none"/>
            <a:tailEnd len="sm" w="sm" type="none"/>
          </a:ln>
        </p:spPr>
        <p:txBody>
          <a:bodyPr anchorCtr="0" anchor="ctr" bIns="81875" lIns="81875" spcFirstLastPara="1" rIns="81875" wrap="square" tIns="81875">
            <a:noAutofit/>
          </a:bodyPr>
          <a:lstStyle/>
          <a:p>
            <a:pPr indent="0" lvl="0" marL="0" rtl="0" algn="ctr">
              <a:spcBef>
                <a:spcPts val="0"/>
              </a:spcBef>
              <a:spcAft>
                <a:spcPts val="0"/>
              </a:spcAft>
              <a:buNone/>
            </a:pPr>
            <a:r>
              <a:t/>
            </a:r>
            <a:endParaRPr sz="1254">
              <a:latin typeface="Calibri"/>
              <a:ea typeface="Calibri"/>
              <a:cs typeface="Calibri"/>
              <a:sym typeface="Calibri"/>
            </a:endParaRPr>
          </a:p>
        </p:txBody>
      </p:sp>
      <p:pic>
        <p:nvPicPr>
          <p:cNvPr id="210" name="Google Shape;210;p27" title="us_p1.png"/>
          <p:cNvPicPr preferRelativeResize="0"/>
          <p:nvPr/>
        </p:nvPicPr>
        <p:blipFill>
          <a:blip r:embed="rId3">
            <a:alphaModFix/>
          </a:blip>
          <a:stretch>
            <a:fillRect/>
          </a:stretch>
        </p:blipFill>
        <p:spPr>
          <a:xfrm>
            <a:off x="5110614" y="4567604"/>
            <a:ext cx="791333" cy="793545"/>
          </a:xfrm>
          <a:prstGeom prst="rect">
            <a:avLst/>
          </a:prstGeom>
          <a:solidFill>
            <a:schemeClr val="lt1"/>
          </a:solidFill>
          <a:ln>
            <a:noFill/>
          </a:ln>
        </p:spPr>
      </p:pic>
      <p:sp>
        <p:nvSpPr>
          <p:cNvPr id="211" name="Google Shape;211;p27"/>
          <p:cNvSpPr txBox="1"/>
          <p:nvPr/>
        </p:nvSpPr>
        <p:spPr>
          <a:xfrm>
            <a:off x="5538900" y="4162075"/>
            <a:ext cx="1013700" cy="384900"/>
          </a:xfrm>
          <a:prstGeom prst="rect">
            <a:avLst/>
          </a:prstGeom>
          <a:noFill/>
          <a:ln>
            <a:noFill/>
          </a:ln>
        </p:spPr>
        <p:txBody>
          <a:bodyPr anchorCtr="0" anchor="t" bIns="81875" lIns="81875" spcFirstLastPara="1" rIns="81875" wrap="square" tIns="81875">
            <a:spAutoFit/>
          </a:bodyPr>
          <a:lstStyle/>
          <a:p>
            <a:pPr indent="0" lvl="0" marL="0" rtl="0" algn="l">
              <a:spcBef>
                <a:spcPts val="0"/>
              </a:spcBef>
              <a:spcAft>
                <a:spcPts val="0"/>
              </a:spcAft>
              <a:buNone/>
            </a:pPr>
            <a:r>
              <a:rPr lang="en-SG" sz="1426">
                <a:solidFill>
                  <a:schemeClr val="dk1"/>
                </a:solidFill>
                <a:latin typeface="Calibri"/>
                <a:ea typeface="Calibri"/>
                <a:cs typeface="Calibri"/>
                <a:sym typeface="Calibri"/>
              </a:rPr>
              <a:t>Domain A</a:t>
            </a:r>
            <a:endParaRPr sz="1426">
              <a:solidFill>
                <a:schemeClr val="dk1"/>
              </a:solidFill>
              <a:latin typeface="Calibri"/>
              <a:ea typeface="Calibri"/>
              <a:cs typeface="Calibri"/>
              <a:sym typeface="Calibri"/>
            </a:endParaRPr>
          </a:p>
        </p:txBody>
      </p:sp>
      <p:sp>
        <p:nvSpPr>
          <p:cNvPr id="212" name="Google Shape;212;p27"/>
          <p:cNvSpPr txBox="1"/>
          <p:nvPr/>
        </p:nvSpPr>
        <p:spPr>
          <a:xfrm>
            <a:off x="5324376" y="5294800"/>
            <a:ext cx="1471200" cy="384900"/>
          </a:xfrm>
          <a:prstGeom prst="rect">
            <a:avLst/>
          </a:prstGeom>
          <a:noFill/>
          <a:ln>
            <a:noFill/>
          </a:ln>
        </p:spPr>
        <p:txBody>
          <a:bodyPr anchorCtr="0" anchor="t" bIns="81875" lIns="81875" spcFirstLastPara="1" rIns="81875" wrap="square" tIns="81875">
            <a:spAutoFit/>
          </a:bodyPr>
          <a:lstStyle/>
          <a:p>
            <a:pPr indent="0" lvl="0" marL="0" rtl="0" algn="l">
              <a:spcBef>
                <a:spcPts val="0"/>
              </a:spcBef>
              <a:spcAft>
                <a:spcPts val="0"/>
              </a:spcAft>
              <a:buNone/>
            </a:pPr>
            <a:r>
              <a:rPr lang="en-SG" sz="1426">
                <a:solidFill>
                  <a:schemeClr val="dk1"/>
                </a:solidFill>
                <a:latin typeface="Calibri"/>
                <a:ea typeface="Calibri"/>
                <a:cs typeface="Calibri"/>
                <a:sym typeface="Calibri"/>
              </a:rPr>
              <a:t>Set A ultrasounds</a:t>
            </a:r>
            <a:endParaRPr sz="1426">
              <a:solidFill>
                <a:schemeClr val="dk1"/>
              </a:solidFill>
              <a:latin typeface="Calibri"/>
              <a:ea typeface="Calibri"/>
              <a:cs typeface="Calibri"/>
              <a:sym typeface="Calibri"/>
            </a:endParaRPr>
          </a:p>
        </p:txBody>
      </p:sp>
      <p:sp>
        <p:nvSpPr>
          <p:cNvPr id="213" name="Google Shape;213;p27"/>
          <p:cNvSpPr/>
          <p:nvPr/>
        </p:nvSpPr>
        <p:spPr>
          <a:xfrm>
            <a:off x="9283100" y="4275601"/>
            <a:ext cx="2019900" cy="1377900"/>
          </a:xfrm>
          <a:prstGeom prst="roundRect">
            <a:avLst>
              <a:gd fmla="val 16667" name="adj"/>
            </a:avLst>
          </a:prstGeom>
          <a:solidFill>
            <a:srgbClr val="A4C2F4"/>
          </a:solidFill>
          <a:ln cap="flat" cmpd="sng" w="8550">
            <a:solidFill>
              <a:srgbClr val="A4C2F4"/>
            </a:solidFill>
            <a:prstDash val="solid"/>
            <a:round/>
            <a:headEnd len="sm" w="sm" type="none"/>
            <a:tailEnd len="sm" w="sm" type="none"/>
          </a:ln>
        </p:spPr>
        <p:txBody>
          <a:bodyPr anchorCtr="0" anchor="ctr" bIns="81875" lIns="81875" spcFirstLastPara="1" rIns="81875" wrap="square" tIns="81875">
            <a:noAutofit/>
          </a:bodyPr>
          <a:lstStyle/>
          <a:p>
            <a:pPr indent="0" lvl="0" marL="0" rtl="0" algn="ctr">
              <a:spcBef>
                <a:spcPts val="0"/>
              </a:spcBef>
              <a:spcAft>
                <a:spcPts val="0"/>
              </a:spcAft>
              <a:buNone/>
            </a:pPr>
            <a:r>
              <a:t/>
            </a:r>
            <a:endParaRPr sz="1254">
              <a:latin typeface="Calibri"/>
              <a:ea typeface="Calibri"/>
              <a:cs typeface="Calibri"/>
              <a:sym typeface="Calibri"/>
            </a:endParaRPr>
          </a:p>
        </p:txBody>
      </p:sp>
      <p:sp>
        <p:nvSpPr>
          <p:cNvPr id="214" name="Google Shape;214;p27"/>
          <p:cNvSpPr txBox="1"/>
          <p:nvPr/>
        </p:nvSpPr>
        <p:spPr>
          <a:xfrm>
            <a:off x="9816200" y="4164022"/>
            <a:ext cx="1013700" cy="381000"/>
          </a:xfrm>
          <a:prstGeom prst="rect">
            <a:avLst/>
          </a:prstGeom>
          <a:noFill/>
          <a:ln>
            <a:noFill/>
          </a:ln>
        </p:spPr>
        <p:txBody>
          <a:bodyPr anchorCtr="0" anchor="t" bIns="81875" lIns="81875" spcFirstLastPara="1" rIns="81875" wrap="square" tIns="81875">
            <a:spAutoFit/>
          </a:bodyPr>
          <a:lstStyle/>
          <a:p>
            <a:pPr indent="0" lvl="0" marL="0" rtl="0" algn="l">
              <a:spcBef>
                <a:spcPts val="0"/>
              </a:spcBef>
              <a:spcAft>
                <a:spcPts val="0"/>
              </a:spcAft>
              <a:buNone/>
            </a:pPr>
            <a:r>
              <a:rPr lang="en-SG">
                <a:solidFill>
                  <a:schemeClr val="dk1"/>
                </a:solidFill>
                <a:latin typeface="Calibri"/>
                <a:ea typeface="Calibri"/>
                <a:cs typeface="Calibri"/>
                <a:sym typeface="Calibri"/>
              </a:rPr>
              <a:t>Domain B</a:t>
            </a:r>
            <a:endParaRPr>
              <a:solidFill>
                <a:schemeClr val="dk1"/>
              </a:solidFill>
              <a:latin typeface="Calibri"/>
              <a:ea typeface="Calibri"/>
              <a:cs typeface="Calibri"/>
              <a:sym typeface="Calibri"/>
            </a:endParaRPr>
          </a:p>
        </p:txBody>
      </p:sp>
      <p:sp>
        <p:nvSpPr>
          <p:cNvPr id="215" name="Google Shape;215;p27"/>
          <p:cNvSpPr txBox="1"/>
          <p:nvPr/>
        </p:nvSpPr>
        <p:spPr>
          <a:xfrm>
            <a:off x="9756200" y="5296750"/>
            <a:ext cx="1073700" cy="381000"/>
          </a:xfrm>
          <a:prstGeom prst="rect">
            <a:avLst/>
          </a:prstGeom>
          <a:noFill/>
          <a:ln>
            <a:noFill/>
          </a:ln>
        </p:spPr>
        <p:txBody>
          <a:bodyPr anchorCtr="0" anchor="t" bIns="81875" lIns="81875" spcFirstLastPara="1" rIns="81875" wrap="square" tIns="81875">
            <a:spAutoFit/>
          </a:bodyPr>
          <a:lstStyle/>
          <a:p>
            <a:pPr indent="0" lvl="0" marL="0" rtl="0" algn="l">
              <a:spcBef>
                <a:spcPts val="0"/>
              </a:spcBef>
              <a:spcAft>
                <a:spcPts val="0"/>
              </a:spcAft>
              <a:buNone/>
            </a:pPr>
            <a:r>
              <a:rPr lang="en-SG">
                <a:solidFill>
                  <a:schemeClr val="dk1"/>
                </a:solidFill>
                <a:latin typeface="Calibri"/>
                <a:ea typeface="Calibri"/>
                <a:cs typeface="Calibri"/>
                <a:sym typeface="Calibri"/>
              </a:rPr>
              <a:t>Set B masks</a:t>
            </a:r>
            <a:endParaRPr>
              <a:solidFill>
                <a:schemeClr val="dk1"/>
              </a:solidFill>
              <a:latin typeface="Calibri"/>
              <a:ea typeface="Calibri"/>
              <a:cs typeface="Calibri"/>
              <a:sym typeface="Calibri"/>
            </a:endParaRPr>
          </a:p>
        </p:txBody>
      </p:sp>
      <p:pic>
        <p:nvPicPr>
          <p:cNvPr id="216" name="Google Shape;216;p27" title="us_p2.png"/>
          <p:cNvPicPr preferRelativeResize="0"/>
          <p:nvPr/>
        </p:nvPicPr>
        <p:blipFill>
          <a:blip r:embed="rId4">
            <a:alphaModFix/>
          </a:blip>
          <a:stretch>
            <a:fillRect/>
          </a:stretch>
        </p:blipFill>
        <p:spPr>
          <a:xfrm>
            <a:off x="6103001" y="4571286"/>
            <a:ext cx="791328" cy="786187"/>
          </a:xfrm>
          <a:prstGeom prst="rect">
            <a:avLst/>
          </a:prstGeom>
          <a:noFill/>
          <a:ln>
            <a:noFill/>
          </a:ln>
        </p:spPr>
      </p:pic>
      <p:pic>
        <p:nvPicPr>
          <p:cNvPr id="217" name="Google Shape;217;p27" title="mask_p4.png"/>
          <p:cNvPicPr preferRelativeResize="0"/>
          <p:nvPr/>
        </p:nvPicPr>
        <p:blipFill>
          <a:blip r:embed="rId5">
            <a:alphaModFix/>
          </a:blip>
          <a:stretch>
            <a:fillRect/>
          </a:stretch>
        </p:blipFill>
        <p:spPr>
          <a:xfrm>
            <a:off x="9421594" y="4573900"/>
            <a:ext cx="791283" cy="780954"/>
          </a:xfrm>
          <a:prstGeom prst="rect">
            <a:avLst/>
          </a:prstGeom>
          <a:noFill/>
          <a:ln>
            <a:noFill/>
          </a:ln>
        </p:spPr>
      </p:pic>
      <p:pic>
        <p:nvPicPr>
          <p:cNvPr id="218" name="Google Shape;218;p27" title="mask_p5.png"/>
          <p:cNvPicPr preferRelativeResize="0"/>
          <p:nvPr/>
        </p:nvPicPr>
        <p:blipFill>
          <a:blip r:embed="rId6">
            <a:alphaModFix/>
          </a:blip>
          <a:stretch>
            <a:fillRect/>
          </a:stretch>
        </p:blipFill>
        <p:spPr>
          <a:xfrm>
            <a:off x="10349008" y="4568736"/>
            <a:ext cx="791284" cy="791284"/>
          </a:xfrm>
          <a:prstGeom prst="rect">
            <a:avLst/>
          </a:prstGeom>
          <a:noFill/>
          <a:ln>
            <a:noFill/>
          </a:ln>
        </p:spPr>
      </p:pic>
      <p:sp>
        <p:nvSpPr>
          <p:cNvPr id="219" name="Google Shape;219;p27"/>
          <p:cNvSpPr/>
          <p:nvPr/>
        </p:nvSpPr>
        <p:spPr>
          <a:xfrm>
            <a:off x="7585084" y="3877502"/>
            <a:ext cx="1356300" cy="535500"/>
          </a:xfrm>
          <a:prstGeom prst="roundRect">
            <a:avLst>
              <a:gd fmla="val 16667" name="adj"/>
            </a:avLst>
          </a:prstGeom>
          <a:solidFill>
            <a:srgbClr val="B6D7A8"/>
          </a:solidFill>
          <a:ln cap="flat" cmpd="sng" w="11175">
            <a:solidFill>
              <a:schemeClr val="dk2"/>
            </a:solidFill>
            <a:prstDash val="solid"/>
            <a:round/>
            <a:headEnd len="sm" w="sm" type="none"/>
            <a:tailEnd len="sm" w="sm" type="none"/>
          </a:ln>
        </p:spPr>
        <p:txBody>
          <a:bodyPr anchorCtr="0" anchor="ctr" bIns="107300" lIns="107300" spcFirstLastPara="1" rIns="107300" wrap="square" tIns="107300">
            <a:noAutofit/>
          </a:bodyPr>
          <a:lstStyle/>
          <a:p>
            <a:pPr indent="0" lvl="0" marL="0" rtl="0" algn="ctr">
              <a:spcBef>
                <a:spcPts val="0"/>
              </a:spcBef>
              <a:spcAft>
                <a:spcPts val="0"/>
              </a:spcAft>
              <a:buNone/>
            </a:pPr>
            <a:r>
              <a:rPr lang="en-SG" sz="1408">
                <a:latin typeface="Calibri"/>
                <a:ea typeface="Calibri"/>
                <a:cs typeface="Calibri"/>
                <a:sym typeface="Calibri"/>
              </a:rPr>
              <a:t>G</a:t>
            </a:r>
            <a:r>
              <a:rPr baseline="-25000" lang="en-SG" sz="1408">
                <a:latin typeface="Calibri"/>
                <a:ea typeface="Calibri"/>
                <a:cs typeface="Calibri"/>
                <a:sym typeface="Calibri"/>
              </a:rPr>
              <a:t>A-&gt;B</a:t>
            </a:r>
            <a:r>
              <a:rPr lang="en-SG" sz="1408">
                <a:latin typeface="Calibri"/>
                <a:ea typeface="Calibri"/>
                <a:cs typeface="Calibri"/>
                <a:sym typeface="Calibri"/>
              </a:rPr>
              <a:t> (UNet++)</a:t>
            </a:r>
            <a:endParaRPr sz="1408">
              <a:latin typeface="Calibri"/>
              <a:ea typeface="Calibri"/>
              <a:cs typeface="Calibri"/>
              <a:sym typeface="Calibri"/>
            </a:endParaRPr>
          </a:p>
          <a:p>
            <a:pPr indent="0" lvl="0" marL="0" rtl="0" algn="ctr">
              <a:spcBef>
                <a:spcPts val="0"/>
              </a:spcBef>
              <a:spcAft>
                <a:spcPts val="0"/>
              </a:spcAft>
              <a:buNone/>
            </a:pPr>
            <a:r>
              <a:rPr lang="en-SG" sz="1408">
                <a:latin typeface="Calibri"/>
                <a:ea typeface="Calibri"/>
                <a:cs typeface="Calibri"/>
                <a:sym typeface="Calibri"/>
              </a:rPr>
              <a:t>US -&gt; Mask</a:t>
            </a:r>
            <a:endParaRPr sz="1408">
              <a:latin typeface="Calibri"/>
              <a:ea typeface="Calibri"/>
              <a:cs typeface="Calibri"/>
              <a:sym typeface="Calibri"/>
            </a:endParaRPr>
          </a:p>
        </p:txBody>
      </p:sp>
      <p:sp>
        <p:nvSpPr>
          <p:cNvPr id="220" name="Google Shape;220;p27"/>
          <p:cNvSpPr/>
          <p:nvPr/>
        </p:nvSpPr>
        <p:spPr>
          <a:xfrm>
            <a:off x="7585084" y="4888449"/>
            <a:ext cx="1356300" cy="535500"/>
          </a:xfrm>
          <a:prstGeom prst="roundRect">
            <a:avLst>
              <a:gd fmla="val 16667" name="adj"/>
            </a:avLst>
          </a:prstGeom>
          <a:solidFill>
            <a:srgbClr val="B6D7A8"/>
          </a:solidFill>
          <a:ln cap="flat" cmpd="sng" w="11175">
            <a:solidFill>
              <a:schemeClr val="dk2"/>
            </a:solidFill>
            <a:prstDash val="solid"/>
            <a:round/>
            <a:headEnd len="sm" w="sm" type="none"/>
            <a:tailEnd len="sm" w="sm" type="none"/>
          </a:ln>
        </p:spPr>
        <p:txBody>
          <a:bodyPr anchorCtr="0" anchor="ctr" bIns="107300" lIns="107300" spcFirstLastPara="1" rIns="107300" wrap="square" tIns="107300">
            <a:noAutofit/>
          </a:bodyPr>
          <a:lstStyle/>
          <a:p>
            <a:pPr indent="0" lvl="0" marL="0" rtl="0" algn="ctr">
              <a:spcBef>
                <a:spcPts val="0"/>
              </a:spcBef>
              <a:spcAft>
                <a:spcPts val="0"/>
              </a:spcAft>
              <a:buNone/>
            </a:pPr>
            <a:r>
              <a:rPr lang="en-SG">
                <a:latin typeface="Calibri"/>
                <a:ea typeface="Calibri"/>
                <a:cs typeface="Calibri"/>
                <a:sym typeface="Calibri"/>
              </a:rPr>
              <a:t>G</a:t>
            </a:r>
            <a:r>
              <a:rPr baseline="-25000" lang="en-SG">
                <a:latin typeface="Calibri"/>
                <a:ea typeface="Calibri"/>
                <a:cs typeface="Calibri"/>
                <a:sym typeface="Calibri"/>
              </a:rPr>
              <a:t>B-&gt;A</a:t>
            </a:r>
            <a:r>
              <a:rPr lang="en-SG">
                <a:latin typeface="Calibri"/>
                <a:ea typeface="Calibri"/>
                <a:cs typeface="Calibri"/>
                <a:sym typeface="Calibri"/>
              </a:rPr>
              <a:t> (UNet++)</a:t>
            </a:r>
            <a:endParaRPr>
              <a:latin typeface="Calibri"/>
              <a:ea typeface="Calibri"/>
              <a:cs typeface="Calibri"/>
              <a:sym typeface="Calibri"/>
            </a:endParaRPr>
          </a:p>
          <a:p>
            <a:pPr indent="0" lvl="0" marL="0" rtl="0" algn="ctr">
              <a:spcBef>
                <a:spcPts val="0"/>
              </a:spcBef>
              <a:spcAft>
                <a:spcPts val="0"/>
              </a:spcAft>
              <a:buNone/>
            </a:pPr>
            <a:r>
              <a:rPr lang="en-SG">
                <a:latin typeface="Calibri"/>
                <a:ea typeface="Calibri"/>
                <a:cs typeface="Calibri"/>
                <a:sym typeface="Calibri"/>
              </a:rPr>
              <a:t>Mask -&gt; US</a:t>
            </a:r>
            <a:endParaRPr>
              <a:latin typeface="Calibri"/>
              <a:ea typeface="Calibri"/>
              <a:cs typeface="Calibri"/>
              <a:sym typeface="Calibri"/>
            </a:endParaRPr>
          </a:p>
        </p:txBody>
      </p:sp>
      <p:cxnSp>
        <p:nvCxnSpPr>
          <p:cNvPr id="221" name="Google Shape;221;p27"/>
          <p:cNvCxnSpPr>
            <a:stCxn id="220" idx="1"/>
          </p:cNvCxnSpPr>
          <p:nvPr/>
        </p:nvCxnSpPr>
        <p:spPr>
          <a:xfrm flipH="1">
            <a:off x="7225684" y="5156199"/>
            <a:ext cx="359400" cy="354300"/>
          </a:xfrm>
          <a:prstGeom prst="straightConnector1">
            <a:avLst/>
          </a:prstGeom>
          <a:noFill/>
          <a:ln cap="flat" cmpd="sng" w="11175">
            <a:solidFill>
              <a:schemeClr val="dk2"/>
            </a:solidFill>
            <a:prstDash val="solid"/>
            <a:round/>
            <a:headEnd len="med" w="med" type="none"/>
            <a:tailEnd len="med" w="med" type="triangle"/>
          </a:ln>
        </p:spPr>
      </p:cxnSp>
      <p:cxnSp>
        <p:nvCxnSpPr>
          <p:cNvPr id="222" name="Google Shape;222;p27"/>
          <p:cNvCxnSpPr>
            <a:stCxn id="219" idx="3"/>
            <a:endCxn id="213" idx="1"/>
          </p:cNvCxnSpPr>
          <p:nvPr/>
        </p:nvCxnSpPr>
        <p:spPr>
          <a:xfrm>
            <a:off x="8941384" y="4145252"/>
            <a:ext cx="341700" cy="819300"/>
          </a:xfrm>
          <a:prstGeom prst="straightConnector1">
            <a:avLst/>
          </a:prstGeom>
          <a:noFill/>
          <a:ln cap="flat" cmpd="sng" w="11175">
            <a:solidFill>
              <a:schemeClr val="dk2"/>
            </a:solidFill>
            <a:prstDash val="solid"/>
            <a:round/>
            <a:headEnd len="med" w="med" type="none"/>
            <a:tailEnd len="med" w="med" type="triangle"/>
          </a:ln>
        </p:spPr>
      </p:cxnSp>
      <p:cxnSp>
        <p:nvCxnSpPr>
          <p:cNvPr id="223" name="Google Shape;223;p27"/>
          <p:cNvCxnSpPr>
            <a:endCxn id="220" idx="3"/>
          </p:cNvCxnSpPr>
          <p:nvPr/>
        </p:nvCxnSpPr>
        <p:spPr>
          <a:xfrm rot="10800000">
            <a:off x="8941384" y="5156199"/>
            <a:ext cx="344100" cy="299700"/>
          </a:xfrm>
          <a:prstGeom prst="straightConnector1">
            <a:avLst/>
          </a:prstGeom>
          <a:noFill/>
          <a:ln cap="flat" cmpd="sng" w="11175">
            <a:solidFill>
              <a:schemeClr val="dk2"/>
            </a:solidFill>
            <a:prstDash val="solid"/>
            <a:round/>
            <a:headEnd len="med" w="med" type="none"/>
            <a:tailEnd len="med" w="med" type="triangle"/>
          </a:ln>
        </p:spPr>
      </p:cxnSp>
      <p:cxnSp>
        <p:nvCxnSpPr>
          <p:cNvPr id="224" name="Google Shape;224;p27"/>
          <p:cNvCxnSpPr/>
          <p:nvPr/>
        </p:nvCxnSpPr>
        <p:spPr>
          <a:xfrm>
            <a:off x="7917850" y="4413004"/>
            <a:ext cx="0" cy="475200"/>
          </a:xfrm>
          <a:prstGeom prst="straightConnector1">
            <a:avLst/>
          </a:prstGeom>
          <a:noFill/>
          <a:ln cap="flat" cmpd="sng" w="11175">
            <a:solidFill>
              <a:schemeClr val="dk2"/>
            </a:solidFill>
            <a:prstDash val="solid"/>
            <a:round/>
            <a:headEnd len="med" w="med" type="none"/>
            <a:tailEnd len="med" w="med" type="triangle"/>
          </a:ln>
        </p:spPr>
      </p:cxnSp>
      <p:cxnSp>
        <p:nvCxnSpPr>
          <p:cNvPr id="225" name="Google Shape;225;p27"/>
          <p:cNvCxnSpPr/>
          <p:nvPr/>
        </p:nvCxnSpPr>
        <p:spPr>
          <a:xfrm rot="10800000">
            <a:off x="8578454" y="4413102"/>
            <a:ext cx="0" cy="475200"/>
          </a:xfrm>
          <a:prstGeom prst="straightConnector1">
            <a:avLst/>
          </a:prstGeom>
          <a:noFill/>
          <a:ln cap="flat" cmpd="sng" w="11175">
            <a:solidFill>
              <a:schemeClr val="dk2"/>
            </a:solidFill>
            <a:prstDash val="solid"/>
            <a:round/>
            <a:headEnd len="med" w="med" type="none"/>
            <a:tailEnd len="med" w="med" type="triangle"/>
          </a:ln>
        </p:spPr>
      </p:cxnSp>
      <p:sp>
        <p:nvSpPr>
          <p:cNvPr id="226" name="Google Shape;226;p27"/>
          <p:cNvSpPr/>
          <p:nvPr/>
        </p:nvSpPr>
        <p:spPr>
          <a:xfrm>
            <a:off x="5381828" y="3342000"/>
            <a:ext cx="1356300" cy="535500"/>
          </a:xfrm>
          <a:prstGeom prst="roundRect">
            <a:avLst>
              <a:gd fmla="val 16667" name="adj"/>
            </a:avLst>
          </a:prstGeom>
          <a:solidFill>
            <a:srgbClr val="FCE5CD"/>
          </a:solidFill>
          <a:ln cap="flat" cmpd="sng" w="11175">
            <a:solidFill>
              <a:srgbClr val="F9CB9C"/>
            </a:solidFill>
            <a:prstDash val="solid"/>
            <a:round/>
            <a:headEnd len="sm" w="sm" type="none"/>
            <a:tailEnd len="sm" w="sm" type="none"/>
          </a:ln>
        </p:spPr>
        <p:txBody>
          <a:bodyPr anchorCtr="0" anchor="ctr" bIns="107300" lIns="107300" spcFirstLastPara="1" rIns="107300" wrap="square" tIns="107300">
            <a:noAutofit/>
          </a:bodyPr>
          <a:lstStyle/>
          <a:p>
            <a:pPr indent="0" lvl="0" marL="0" rtl="0" algn="ctr">
              <a:spcBef>
                <a:spcPts val="0"/>
              </a:spcBef>
              <a:spcAft>
                <a:spcPts val="0"/>
              </a:spcAft>
              <a:buNone/>
            </a:pPr>
            <a:r>
              <a:rPr lang="en-SG" sz="1526">
                <a:latin typeface="Calibri"/>
                <a:ea typeface="Calibri"/>
                <a:cs typeface="Calibri"/>
                <a:sym typeface="Calibri"/>
              </a:rPr>
              <a:t>D</a:t>
            </a:r>
            <a:r>
              <a:rPr baseline="-25000" lang="en-SG" sz="1526">
                <a:latin typeface="Calibri"/>
                <a:ea typeface="Calibri"/>
                <a:cs typeface="Calibri"/>
                <a:sym typeface="Calibri"/>
              </a:rPr>
              <a:t>A</a:t>
            </a:r>
            <a:r>
              <a:rPr lang="en-SG" sz="1526">
                <a:latin typeface="Calibri"/>
                <a:ea typeface="Calibri"/>
                <a:cs typeface="Calibri"/>
                <a:sym typeface="Calibri"/>
              </a:rPr>
              <a:t> PatchGAN</a:t>
            </a:r>
            <a:endParaRPr sz="1526">
              <a:latin typeface="Calibri"/>
              <a:ea typeface="Calibri"/>
              <a:cs typeface="Calibri"/>
              <a:sym typeface="Calibri"/>
            </a:endParaRPr>
          </a:p>
        </p:txBody>
      </p:sp>
      <p:sp>
        <p:nvSpPr>
          <p:cNvPr id="227" name="Google Shape;227;p27"/>
          <p:cNvSpPr/>
          <p:nvPr/>
        </p:nvSpPr>
        <p:spPr>
          <a:xfrm>
            <a:off x="9614900" y="3342000"/>
            <a:ext cx="1356300" cy="535500"/>
          </a:xfrm>
          <a:prstGeom prst="roundRect">
            <a:avLst>
              <a:gd fmla="val 16667" name="adj"/>
            </a:avLst>
          </a:prstGeom>
          <a:solidFill>
            <a:srgbClr val="FCE5CD"/>
          </a:solidFill>
          <a:ln cap="flat" cmpd="sng" w="11175">
            <a:solidFill>
              <a:srgbClr val="F9CB9C"/>
            </a:solidFill>
            <a:prstDash val="solid"/>
            <a:round/>
            <a:headEnd len="sm" w="sm" type="none"/>
            <a:tailEnd len="sm" w="sm" type="none"/>
          </a:ln>
        </p:spPr>
        <p:txBody>
          <a:bodyPr anchorCtr="0" anchor="ctr" bIns="107300" lIns="107300" spcFirstLastPara="1" rIns="107300" wrap="square" tIns="107300">
            <a:noAutofit/>
          </a:bodyPr>
          <a:lstStyle/>
          <a:p>
            <a:pPr indent="0" lvl="0" marL="0" rtl="0" algn="ctr">
              <a:spcBef>
                <a:spcPts val="0"/>
              </a:spcBef>
              <a:spcAft>
                <a:spcPts val="0"/>
              </a:spcAft>
              <a:buNone/>
            </a:pPr>
            <a:r>
              <a:rPr lang="en-SG">
                <a:solidFill>
                  <a:schemeClr val="dk1"/>
                </a:solidFill>
                <a:latin typeface="Calibri"/>
                <a:ea typeface="Calibri"/>
                <a:cs typeface="Calibri"/>
                <a:sym typeface="Calibri"/>
              </a:rPr>
              <a:t>D</a:t>
            </a:r>
            <a:r>
              <a:rPr baseline="-25000" lang="en-SG">
                <a:solidFill>
                  <a:schemeClr val="dk1"/>
                </a:solidFill>
                <a:latin typeface="Calibri"/>
                <a:ea typeface="Calibri"/>
                <a:cs typeface="Calibri"/>
                <a:sym typeface="Calibri"/>
              </a:rPr>
              <a:t>B</a:t>
            </a:r>
            <a:r>
              <a:rPr lang="en-SG">
                <a:solidFill>
                  <a:schemeClr val="dk1"/>
                </a:solidFill>
                <a:latin typeface="Calibri"/>
                <a:ea typeface="Calibri"/>
                <a:cs typeface="Calibri"/>
                <a:sym typeface="Calibri"/>
              </a:rPr>
              <a:t> PatchGAN</a:t>
            </a:r>
            <a:endParaRPr>
              <a:latin typeface="Calibri"/>
              <a:ea typeface="Calibri"/>
              <a:cs typeface="Calibri"/>
              <a:sym typeface="Calibri"/>
            </a:endParaRPr>
          </a:p>
        </p:txBody>
      </p:sp>
      <p:cxnSp>
        <p:nvCxnSpPr>
          <p:cNvPr id="228" name="Google Shape;228;p27"/>
          <p:cNvCxnSpPr>
            <a:endCxn id="219" idx="1"/>
          </p:cNvCxnSpPr>
          <p:nvPr/>
        </p:nvCxnSpPr>
        <p:spPr>
          <a:xfrm flipH="1" rot="10800000">
            <a:off x="7234684" y="4145252"/>
            <a:ext cx="350400" cy="348900"/>
          </a:xfrm>
          <a:prstGeom prst="straightConnector1">
            <a:avLst/>
          </a:prstGeom>
          <a:noFill/>
          <a:ln cap="flat" cmpd="sng" w="11175">
            <a:solidFill>
              <a:schemeClr val="dk2"/>
            </a:solidFill>
            <a:prstDash val="solid"/>
            <a:round/>
            <a:headEnd len="med" w="med" type="none"/>
            <a:tailEnd len="med" w="med" type="triangle"/>
          </a:ln>
        </p:spPr>
      </p:cxnSp>
      <p:cxnSp>
        <p:nvCxnSpPr>
          <p:cNvPr id="229" name="Google Shape;229;p27"/>
          <p:cNvCxnSpPr>
            <a:stCxn id="220" idx="2"/>
            <a:endCxn id="226" idx="3"/>
          </p:cNvCxnSpPr>
          <p:nvPr/>
        </p:nvCxnSpPr>
        <p:spPr>
          <a:xfrm flipH="1" rot="5400000">
            <a:off x="6593584" y="3754299"/>
            <a:ext cx="1814100" cy="1525200"/>
          </a:xfrm>
          <a:prstGeom prst="curvedConnector4">
            <a:avLst>
              <a:gd fmla="val -13126" name="adj1"/>
              <a:gd fmla="val 64656" name="adj2"/>
            </a:avLst>
          </a:prstGeom>
          <a:noFill/>
          <a:ln cap="flat" cmpd="sng" w="11175">
            <a:solidFill>
              <a:schemeClr val="dk2"/>
            </a:solidFill>
            <a:prstDash val="solid"/>
            <a:round/>
            <a:headEnd len="med" w="med" type="none"/>
            <a:tailEnd len="med" w="med" type="none"/>
          </a:ln>
        </p:spPr>
      </p:cxnSp>
      <p:cxnSp>
        <p:nvCxnSpPr>
          <p:cNvPr id="230" name="Google Shape;230;p27"/>
          <p:cNvCxnSpPr>
            <a:stCxn id="219" idx="3"/>
            <a:endCxn id="227" idx="1"/>
          </p:cNvCxnSpPr>
          <p:nvPr/>
        </p:nvCxnSpPr>
        <p:spPr>
          <a:xfrm flipH="1" rot="10800000">
            <a:off x="8941384" y="3609752"/>
            <a:ext cx="673500" cy="535500"/>
          </a:xfrm>
          <a:prstGeom prst="curvedConnector3">
            <a:avLst>
              <a:gd fmla="val 50001" name="adj1"/>
            </a:avLst>
          </a:prstGeom>
          <a:noFill/>
          <a:ln cap="flat" cmpd="sng" w="11175">
            <a:solidFill>
              <a:schemeClr val="dk2"/>
            </a:solidFill>
            <a:prstDash val="solid"/>
            <a:round/>
            <a:headEnd len="med" w="med" type="none"/>
            <a:tailEnd len="med" w="med" type="none"/>
          </a:ln>
        </p:spPr>
      </p:cxnSp>
      <p:cxnSp>
        <p:nvCxnSpPr>
          <p:cNvPr id="231" name="Google Shape;231;p27"/>
          <p:cNvCxnSpPr>
            <a:stCxn id="209" idx="0"/>
            <a:endCxn id="226" idx="2"/>
          </p:cNvCxnSpPr>
          <p:nvPr/>
        </p:nvCxnSpPr>
        <p:spPr>
          <a:xfrm rot="10800000">
            <a:off x="6059975" y="3877625"/>
            <a:ext cx="0" cy="397800"/>
          </a:xfrm>
          <a:prstGeom prst="straightConnector1">
            <a:avLst/>
          </a:prstGeom>
          <a:noFill/>
          <a:ln cap="flat" cmpd="sng" w="9525">
            <a:solidFill>
              <a:schemeClr val="dk2"/>
            </a:solidFill>
            <a:prstDash val="solid"/>
            <a:round/>
            <a:headEnd len="med" w="med" type="none"/>
            <a:tailEnd len="med" w="med" type="triangle"/>
          </a:ln>
        </p:spPr>
      </p:cxnSp>
      <p:cxnSp>
        <p:nvCxnSpPr>
          <p:cNvPr id="232" name="Google Shape;232;p27"/>
          <p:cNvCxnSpPr>
            <a:stCxn id="213" idx="0"/>
            <a:endCxn id="227" idx="2"/>
          </p:cNvCxnSpPr>
          <p:nvPr/>
        </p:nvCxnSpPr>
        <p:spPr>
          <a:xfrm rot="10800000">
            <a:off x="10293050" y="3877501"/>
            <a:ext cx="0" cy="398100"/>
          </a:xfrm>
          <a:prstGeom prst="straightConnector1">
            <a:avLst/>
          </a:prstGeom>
          <a:noFill/>
          <a:ln cap="flat" cmpd="sng" w="9525">
            <a:solidFill>
              <a:schemeClr val="dk2"/>
            </a:solidFill>
            <a:prstDash val="solid"/>
            <a:round/>
            <a:headEnd len="med" w="med" type="none"/>
            <a:tailEnd len="med" w="med" type="triangle"/>
          </a:ln>
        </p:spPr>
      </p:cxnSp>
      <p:pic>
        <p:nvPicPr>
          <p:cNvPr id="233" name="Google Shape;233;p27"/>
          <p:cNvPicPr preferRelativeResize="0"/>
          <p:nvPr/>
        </p:nvPicPr>
        <p:blipFill>
          <a:blip r:embed="rId7">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8" name="Shape 238"/>
        <p:cNvGrpSpPr/>
        <p:nvPr/>
      </p:nvGrpSpPr>
      <p:grpSpPr>
        <a:xfrm>
          <a:off x="0" y="0"/>
          <a:ext cx="0" cy="0"/>
          <a:chOff x="0" y="0"/>
          <a:chExt cx="0" cy="0"/>
        </a:xfrm>
      </p:grpSpPr>
      <p:sp>
        <p:nvSpPr>
          <p:cNvPr id="239" name="Google Shape;239;p28"/>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240" name="Google Shape;240;p28"/>
          <p:cNvSpPr txBox="1"/>
          <p:nvPr/>
        </p:nvSpPr>
        <p:spPr>
          <a:xfrm>
            <a:off x="793375" y="632000"/>
            <a:ext cx="736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Method - Semi Supervised (Hybrid) Learning</a:t>
            </a:r>
            <a:endParaRPr/>
          </a:p>
        </p:txBody>
      </p:sp>
      <p:sp>
        <p:nvSpPr>
          <p:cNvPr id="241" name="Google Shape;241;p28"/>
          <p:cNvSpPr txBox="1"/>
          <p:nvPr/>
        </p:nvSpPr>
        <p:spPr>
          <a:xfrm>
            <a:off x="900950" y="1968500"/>
            <a:ext cx="4431300" cy="2555100"/>
          </a:xfrm>
          <a:prstGeom prst="rect">
            <a:avLst/>
          </a:prstGeom>
          <a:noFill/>
          <a:ln>
            <a:noFill/>
          </a:ln>
        </p:spPr>
        <p:txBody>
          <a:bodyPr anchorCtr="0" anchor="t" bIns="45700" lIns="91425" spcFirstLastPara="1" rIns="91425" wrap="square" tIns="45700">
            <a:spAutoFit/>
          </a:bodyPr>
          <a:lstStyle/>
          <a:p>
            <a:pPr indent="-273050" lvl="0" marL="285750" marR="0" rtl="0" algn="l">
              <a:spcBef>
                <a:spcPts val="0"/>
              </a:spcBef>
              <a:spcAft>
                <a:spcPts val="0"/>
              </a:spcAft>
              <a:buClr>
                <a:schemeClr val="dk1"/>
              </a:buClr>
              <a:buSzPts val="1600"/>
              <a:buFont typeface="Arial"/>
              <a:buChar char="•"/>
            </a:pPr>
            <a:r>
              <a:rPr lang="en-SG" sz="1600"/>
              <a:t>Each training has:</a:t>
            </a:r>
            <a:endParaRPr sz="1600"/>
          </a:p>
          <a:p>
            <a:pPr indent="-330200" lvl="1" marL="914400" marR="0" rtl="0" algn="l">
              <a:spcBef>
                <a:spcPts val="0"/>
              </a:spcBef>
              <a:spcAft>
                <a:spcPts val="0"/>
              </a:spcAft>
              <a:buSzPts val="1600"/>
              <a:buChar char="○"/>
            </a:pPr>
            <a:r>
              <a:rPr lang="en-SG" sz="1600"/>
              <a:t>Unpaired images from Set A</a:t>
            </a:r>
            <a:endParaRPr sz="1600"/>
          </a:p>
          <a:p>
            <a:pPr indent="-330200" lvl="1" marL="914400" marR="0" rtl="0" algn="l">
              <a:spcBef>
                <a:spcPts val="0"/>
              </a:spcBef>
              <a:spcAft>
                <a:spcPts val="0"/>
              </a:spcAft>
              <a:buSzPts val="1600"/>
              <a:buChar char="○"/>
            </a:pPr>
            <a:r>
              <a:rPr lang="en-SG" sz="1600"/>
              <a:t>Unpaired masks from Set B</a:t>
            </a:r>
            <a:endParaRPr sz="1600"/>
          </a:p>
          <a:p>
            <a:pPr indent="-330200" lvl="1" marL="914400" marR="0" rtl="0" algn="l">
              <a:spcBef>
                <a:spcPts val="0"/>
              </a:spcBef>
              <a:spcAft>
                <a:spcPts val="0"/>
              </a:spcAft>
              <a:buSzPts val="1600"/>
              <a:buChar char="○"/>
            </a:pPr>
            <a:r>
              <a:rPr lang="en-SG" sz="1600"/>
              <a:t>Paired image-mask of Set A</a:t>
            </a:r>
            <a:endParaRPr sz="1600"/>
          </a:p>
          <a:p>
            <a:pPr indent="-330200" lvl="0" marL="457200" marR="0" rtl="0" algn="l">
              <a:spcBef>
                <a:spcPts val="0"/>
              </a:spcBef>
              <a:spcAft>
                <a:spcPts val="0"/>
              </a:spcAft>
              <a:buSzPts val="1600"/>
              <a:buChar char="•"/>
            </a:pPr>
            <a:r>
              <a:rPr lang="en-SG" sz="1600"/>
              <a:t>Paired loss: cross entropy segmentation loss in </a:t>
            </a:r>
            <a:r>
              <a:rPr lang="en-SG" sz="1600">
                <a:solidFill>
                  <a:schemeClr val="dk1"/>
                </a:solidFill>
              </a:rPr>
              <a:t>G_A→B</a:t>
            </a:r>
            <a:r>
              <a:rPr lang="en-SG" sz="1600"/>
              <a:t> outputs (direct supervision) </a:t>
            </a:r>
            <a:endParaRPr sz="1600"/>
          </a:p>
          <a:p>
            <a:pPr indent="-330200" lvl="0" marL="457200" marR="0" rtl="0" algn="l">
              <a:spcBef>
                <a:spcPts val="0"/>
              </a:spcBef>
              <a:spcAft>
                <a:spcPts val="0"/>
              </a:spcAft>
              <a:buSzPts val="1600"/>
              <a:buChar char="•"/>
            </a:pPr>
            <a:r>
              <a:rPr lang="en-SG" sz="1600"/>
              <a:t>Discriminators exclusively unpaired </a:t>
            </a:r>
            <a:endParaRPr sz="1600"/>
          </a:p>
          <a:p>
            <a:pPr indent="-330200" lvl="0" marL="457200" marR="0" rtl="0" algn="l">
              <a:spcBef>
                <a:spcPts val="0"/>
              </a:spcBef>
              <a:spcAft>
                <a:spcPts val="0"/>
              </a:spcAft>
              <a:buSzPts val="1600"/>
              <a:buChar char="•"/>
            </a:pPr>
            <a:r>
              <a:rPr lang="en-SG" sz="1600"/>
              <a:t>Total loss = </a:t>
            </a:r>
            <a:r>
              <a:rPr b="1" lang="en-SG" sz="1600"/>
              <a:t>ℒ</a:t>
            </a:r>
            <a:r>
              <a:rPr b="1" baseline="-25000" lang="en-SG" sz="1600"/>
              <a:t>G</a:t>
            </a:r>
            <a:r>
              <a:rPr b="1" lang="en-SG" sz="1600"/>
              <a:t> = ℒᴬ</a:t>
            </a:r>
            <a:r>
              <a:rPr b="1" baseline="-25000" lang="en-SG" sz="1600"/>
              <a:t>adv</a:t>
            </a:r>
            <a:r>
              <a:rPr b="1" lang="en-SG" sz="1600"/>
              <a:t> + ℒᴮ</a:t>
            </a:r>
            <a:r>
              <a:rPr b="1" baseline="-25000" lang="en-SG" sz="1600"/>
              <a:t>adv</a:t>
            </a:r>
            <a:r>
              <a:rPr b="1" lang="en-SG" sz="1600"/>
              <a:t> + λ</a:t>
            </a:r>
            <a:r>
              <a:rPr b="1" baseline="-25000" lang="en-SG" sz="1600"/>
              <a:t>cyc</a:t>
            </a:r>
            <a:r>
              <a:rPr b="1" lang="en-SG" sz="1600"/>
              <a:t>(ℒᴬ</a:t>
            </a:r>
            <a:r>
              <a:rPr b="1" baseline="-25000" lang="en-SG" sz="1600"/>
              <a:t>cyc</a:t>
            </a:r>
            <a:r>
              <a:rPr b="1" lang="en-SG" sz="1600"/>
              <a:t> + ℒᴮ</a:t>
            </a:r>
            <a:r>
              <a:rPr b="1" baseline="-25000" lang="en-SG" sz="1600"/>
              <a:t>cyc</a:t>
            </a:r>
            <a:r>
              <a:rPr b="1" lang="en-SG" sz="1600"/>
              <a:t>) + λ</a:t>
            </a:r>
            <a:r>
              <a:rPr b="1" baseline="-25000" lang="en-SG" sz="1600"/>
              <a:t>seg</a:t>
            </a:r>
            <a:r>
              <a:rPr b="1" lang="en-SG" sz="1600"/>
              <a:t> ℒ</a:t>
            </a:r>
            <a:r>
              <a:rPr b="1" baseline="-25000" lang="en-SG" sz="1600"/>
              <a:t>seg</a:t>
            </a:r>
            <a:r>
              <a:rPr b="1" lang="en-SG" sz="1600"/>
              <a:t> + λ</a:t>
            </a:r>
            <a:r>
              <a:rPr b="1" baseline="-25000" lang="en-SG" sz="1600"/>
              <a:t>id</a:t>
            </a:r>
            <a:r>
              <a:rPr b="1" lang="en-SG" sz="1600"/>
              <a:t>ℒ</a:t>
            </a:r>
            <a:r>
              <a:rPr b="1" baseline="-25000" lang="en-SG" sz="1600"/>
              <a:t>id</a:t>
            </a:r>
            <a:endParaRPr sz="1600"/>
          </a:p>
        </p:txBody>
      </p:sp>
      <p:sp>
        <p:nvSpPr>
          <p:cNvPr id="242" name="Google Shape;242;p28"/>
          <p:cNvSpPr/>
          <p:nvPr/>
        </p:nvSpPr>
        <p:spPr>
          <a:xfrm>
            <a:off x="5950738" y="2727823"/>
            <a:ext cx="2062500" cy="1336200"/>
          </a:xfrm>
          <a:prstGeom prst="roundRect">
            <a:avLst>
              <a:gd fmla="val 16667" name="adj"/>
            </a:avLst>
          </a:prstGeom>
          <a:solidFill>
            <a:srgbClr val="A4C2F4"/>
          </a:solidFill>
          <a:ln cap="flat" cmpd="sng" w="7275">
            <a:solidFill>
              <a:srgbClr val="4A86E8"/>
            </a:solidFill>
            <a:prstDash val="solid"/>
            <a:round/>
            <a:headEnd len="sm" w="sm" type="none"/>
            <a:tailEnd len="sm" w="sm" type="none"/>
          </a:ln>
        </p:spPr>
        <p:txBody>
          <a:bodyPr anchorCtr="0" anchor="ctr" bIns="69775" lIns="69775" spcFirstLastPara="1" rIns="69775" wrap="square" tIns="69775">
            <a:noAutofit/>
          </a:bodyPr>
          <a:lstStyle/>
          <a:p>
            <a:pPr indent="0" lvl="0" marL="0" rtl="0" algn="ctr">
              <a:spcBef>
                <a:spcPts val="0"/>
              </a:spcBef>
              <a:spcAft>
                <a:spcPts val="0"/>
              </a:spcAft>
              <a:buNone/>
            </a:pPr>
            <a:r>
              <a:t/>
            </a:r>
            <a:endParaRPr sz="1069">
              <a:solidFill>
                <a:schemeClr val="lt1"/>
              </a:solidFill>
              <a:latin typeface="Calibri"/>
              <a:ea typeface="Calibri"/>
              <a:cs typeface="Calibri"/>
              <a:sym typeface="Calibri"/>
            </a:endParaRPr>
          </a:p>
        </p:txBody>
      </p:sp>
      <p:pic>
        <p:nvPicPr>
          <p:cNvPr id="243" name="Google Shape;243;p28" title="us_p1.png"/>
          <p:cNvPicPr preferRelativeResize="0"/>
          <p:nvPr/>
        </p:nvPicPr>
        <p:blipFill>
          <a:blip r:embed="rId3">
            <a:alphaModFix/>
          </a:blip>
          <a:stretch>
            <a:fillRect/>
          </a:stretch>
        </p:blipFill>
        <p:spPr>
          <a:xfrm>
            <a:off x="6187849" y="3030826"/>
            <a:ext cx="728174" cy="730200"/>
          </a:xfrm>
          <a:prstGeom prst="rect">
            <a:avLst/>
          </a:prstGeom>
          <a:solidFill>
            <a:schemeClr val="lt1"/>
          </a:solidFill>
          <a:ln>
            <a:noFill/>
          </a:ln>
        </p:spPr>
      </p:pic>
      <p:sp>
        <p:nvSpPr>
          <p:cNvPr id="244" name="Google Shape;244;p28"/>
          <p:cNvSpPr txBox="1"/>
          <p:nvPr/>
        </p:nvSpPr>
        <p:spPr>
          <a:xfrm>
            <a:off x="6563687" y="2702325"/>
            <a:ext cx="939300" cy="356400"/>
          </a:xfrm>
          <a:prstGeom prst="rect">
            <a:avLst/>
          </a:prstGeom>
          <a:noFill/>
          <a:ln>
            <a:noFill/>
          </a:ln>
        </p:spPr>
        <p:txBody>
          <a:bodyPr anchorCtr="0" anchor="t" bIns="69775" lIns="69775" spcFirstLastPara="1" rIns="69775" wrap="square" tIns="69775">
            <a:spAutoFit/>
          </a:bodyPr>
          <a:lstStyle/>
          <a:p>
            <a:pPr indent="0" lvl="0" marL="0" rtl="0" algn="l">
              <a:spcBef>
                <a:spcPts val="0"/>
              </a:spcBef>
              <a:spcAft>
                <a:spcPts val="0"/>
              </a:spcAft>
              <a:buNone/>
            </a:pPr>
            <a:r>
              <a:rPr lang="en-SG">
                <a:solidFill>
                  <a:schemeClr val="dk1"/>
                </a:solidFill>
                <a:latin typeface="Calibri"/>
                <a:ea typeface="Calibri"/>
                <a:cs typeface="Calibri"/>
                <a:sym typeface="Calibri"/>
              </a:rPr>
              <a:t>Domain A</a:t>
            </a:r>
            <a:endParaRPr>
              <a:solidFill>
                <a:schemeClr val="dk1"/>
              </a:solidFill>
              <a:latin typeface="Calibri"/>
              <a:ea typeface="Calibri"/>
              <a:cs typeface="Calibri"/>
              <a:sym typeface="Calibri"/>
            </a:endParaRPr>
          </a:p>
        </p:txBody>
      </p:sp>
      <p:sp>
        <p:nvSpPr>
          <p:cNvPr id="245" name="Google Shape;245;p28"/>
          <p:cNvSpPr txBox="1"/>
          <p:nvPr/>
        </p:nvSpPr>
        <p:spPr>
          <a:xfrm>
            <a:off x="6224499" y="3703425"/>
            <a:ext cx="1515000" cy="356400"/>
          </a:xfrm>
          <a:prstGeom prst="rect">
            <a:avLst/>
          </a:prstGeom>
          <a:noFill/>
          <a:ln>
            <a:noFill/>
          </a:ln>
        </p:spPr>
        <p:txBody>
          <a:bodyPr anchorCtr="0" anchor="t" bIns="69775" lIns="69775" spcFirstLastPara="1" rIns="69775" wrap="square" tIns="69775">
            <a:spAutoFit/>
          </a:bodyPr>
          <a:lstStyle/>
          <a:p>
            <a:pPr indent="0" lvl="0" marL="0" rtl="0" algn="l">
              <a:spcBef>
                <a:spcPts val="0"/>
              </a:spcBef>
              <a:spcAft>
                <a:spcPts val="0"/>
              </a:spcAft>
              <a:buNone/>
            </a:pPr>
            <a:r>
              <a:rPr lang="en-SG">
                <a:solidFill>
                  <a:schemeClr val="dk1"/>
                </a:solidFill>
                <a:latin typeface="Calibri"/>
                <a:ea typeface="Calibri"/>
                <a:cs typeface="Calibri"/>
                <a:sym typeface="Calibri"/>
              </a:rPr>
              <a:t>Set A ultrasounds</a:t>
            </a:r>
            <a:endParaRPr>
              <a:solidFill>
                <a:schemeClr val="dk1"/>
              </a:solidFill>
              <a:latin typeface="Calibri"/>
              <a:ea typeface="Calibri"/>
              <a:cs typeface="Calibri"/>
              <a:sym typeface="Calibri"/>
            </a:endParaRPr>
          </a:p>
        </p:txBody>
      </p:sp>
      <p:sp>
        <p:nvSpPr>
          <p:cNvPr id="246" name="Google Shape;246;p28"/>
          <p:cNvSpPr/>
          <p:nvPr/>
        </p:nvSpPr>
        <p:spPr>
          <a:xfrm>
            <a:off x="9801400" y="2723650"/>
            <a:ext cx="1834200" cy="1336200"/>
          </a:xfrm>
          <a:prstGeom prst="roundRect">
            <a:avLst>
              <a:gd fmla="val 16667" name="adj"/>
            </a:avLst>
          </a:prstGeom>
          <a:solidFill>
            <a:srgbClr val="A4C2F4"/>
          </a:solidFill>
          <a:ln cap="flat" cmpd="sng" w="7275">
            <a:solidFill>
              <a:srgbClr val="A2C4C9"/>
            </a:solidFill>
            <a:prstDash val="solid"/>
            <a:round/>
            <a:headEnd len="sm" w="sm" type="none"/>
            <a:tailEnd len="sm" w="sm" type="none"/>
          </a:ln>
        </p:spPr>
        <p:txBody>
          <a:bodyPr anchorCtr="0" anchor="ctr" bIns="69775" lIns="69775" spcFirstLastPara="1" rIns="69775" wrap="square" tIns="69775">
            <a:noAutofit/>
          </a:bodyPr>
          <a:lstStyle/>
          <a:p>
            <a:pPr indent="0" lvl="0" marL="0" rtl="0" algn="ctr">
              <a:spcBef>
                <a:spcPts val="0"/>
              </a:spcBef>
              <a:spcAft>
                <a:spcPts val="0"/>
              </a:spcAft>
              <a:buNone/>
            </a:pPr>
            <a:r>
              <a:t/>
            </a:r>
            <a:endParaRPr sz="1069">
              <a:latin typeface="Calibri"/>
              <a:ea typeface="Calibri"/>
              <a:cs typeface="Calibri"/>
              <a:sym typeface="Calibri"/>
            </a:endParaRPr>
          </a:p>
        </p:txBody>
      </p:sp>
      <p:sp>
        <p:nvSpPr>
          <p:cNvPr id="247" name="Google Shape;247;p28"/>
          <p:cNvSpPr txBox="1"/>
          <p:nvPr/>
        </p:nvSpPr>
        <p:spPr>
          <a:xfrm>
            <a:off x="10235341" y="2702325"/>
            <a:ext cx="966300" cy="356400"/>
          </a:xfrm>
          <a:prstGeom prst="rect">
            <a:avLst/>
          </a:prstGeom>
          <a:noFill/>
          <a:ln>
            <a:noFill/>
          </a:ln>
        </p:spPr>
        <p:txBody>
          <a:bodyPr anchorCtr="0" anchor="t" bIns="69775" lIns="69775" spcFirstLastPara="1" rIns="69775" wrap="square" tIns="69775">
            <a:spAutoFit/>
          </a:bodyPr>
          <a:lstStyle/>
          <a:p>
            <a:pPr indent="0" lvl="0" marL="0" rtl="0" algn="l">
              <a:spcBef>
                <a:spcPts val="0"/>
              </a:spcBef>
              <a:spcAft>
                <a:spcPts val="0"/>
              </a:spcAft>
              <a:buNone/>
            </a:pPr>
            <a:r>
              <a:rPr lang="en-SG">
                <a:solidFill>
                  <a:schemeClr val="dk1"/>
                </a:solidFill>
                <a:latin typeface="Calibri"/>
                <a:ea typeface="Calibri"/>
                <a:cs typeface="Calibri"/>
                <a:sym typeface="Calibri"/>
              </a:rPr>
              <a:t>Domain B</a:t>
            </a:r>
            <a:endParaRPr>
              <a:solidFill>
                <a:schemeClr val="dk1"/>
              </a:solidFill>
              <a:latin typeface="Calibri"/>
              <a:ea typeface="Calibri"/>
              <a:cs typeface="Calibri"/>
              <a:sym typeface="Calibri"/>
            </a:endParaRPr>
          </a:p>
        </p:txBody>
      </p:sp>
      <p:sp>
        <p:nvSpPr>
          <p:cNvPr id="248" name="Google Shape;248;p28"/>
          <p:cNvSpPr txBox="1"/>
          <p:nvPr/>
        </p:nvSpPr>
        <p:spPr>
          <a:xfrm>
            <a:off x="10117603" y="3703425"/>
            <a:ext cx="1201800" cy="356400"/>
          </a:xfrm>
          <a:prstGeom prst="rect">
            <a:avLst/>
          </a:prstGeom>
          <a:noFill/>
          <a:ln>
            <a:noFill/>
          </a:ln>
        </p:spPr>
        <p:txBody>
          <a:bodyPr anchorCtr="0" anchor="t" bIns="69775" lIns="69775" spcFirstLastPara="1" rIns="69775" wrap="square" tIns="69775">
            <a:spAutoFit/>
          </a:bodyPr>
          <a:lstStyle/>
          <a:p>
            <a:pPr indent="0" lvl="0" marL="0" rtl="0" algn="l">
              <a:spcBef>
                <a:spcPts val="0"/>
              </a:spcBef>
              <a:spcAft>
                <a:spcPts val="0"/>
              </a:spcAft>
              <a:buNone/>
            </a:pPr>
            <a:r>
              <a:rPr lang="en-SG">
                <a:solidFill>
                  <a:schemeClr val="dk1"/>
                </a:solidFill>
                <a:latin typeface="Calibri"/>
                <a:ea typeface="Calibri"/>
                <a:cs typeface="Calibri"/>
                <a:sym typeface="Calibri"/>
              </a:rPr>
              <a:t>Set B masks</a:t>
            </a:r>
            <a:endParaRPr>
              <a:solidFill>
                <a:schemeClr val="dk1"/>
              </a:solidFill>
              <a:latin typeface="Calibri"/>
              <a:ea typeface="Calibri"/>
              <a:cs typeface="Calibri"/>
              <a:sym typeface="Calibri"/>
            </a:endParaRPr>
          </a:p>
        </p:txBody>
      </p:sp>
      <p:pic>
        <p:nvPicPr>
          <p:cNvPr id="249" name="Google Shape;249;p28" title="us_p2.png"/>
          <p:cNvPicPr preferRelativeResize="0"/>
          <p:nvPr/>
        </p:nvPicPr>
        <p:blipFill>
          <a:blip r:embed="rId4">
            <a:alphaModFix/>
          </a:blip>
          <a:stretch>
            <a:fillRect/>
          </a:stretch>
        </p:blipFill>
        <p:spPr>
          <a:xfrm>
            <a:off x="7095087" y="3034201"/>
            <a:ext cx="728175" cy="723451"/>
          </a:xfrm>
          <a:prstGeom prst="rect">
            <a:avLst/>
          </a:prstGeom>
          <a:noFill/>
          <a:ln>
            <a:noFill/>
          </a:ln>
        </p:spPr>
      </p:pic>
      <p:pic>
        <p:nvPicPr>
          <p:cNvPr id="250" name="Google Shape;250;p28" title="mask_p4.png"/>
          <p:cNvPicPr preferRelativeResize="0"/>
          <p:nvPr/>
        </p:nvPicPr>
        <p:blipFill>
          <a:blip r:embed="rId5">
            <a:alphaModFix/>
          </a:blip>
          <a:stretch>
            <a:fillRect/>
          </a:stretch>
        </p:blipFill>
        <p:spPr>
          <a:xfrm>
            <a:off x="9932139" y="3069663"/>
            <a:ext cx="728175" cy="718671"/>
          </a:xfrm>
          <a:prstGeom prst="rect">
            <a:avLst/>
          </a:prstGeom>
          <a:noFill/>
          <a:ln>
            <a:noFill/>
          </a:ln>
        </p:spPr>
      </p:pic>
      <p:pic>
        <p:nvPicPr>
          <p:cNvPr id="251" name="Google Shape;251;p28" title="mask_p5.png"/>
          <p:cNvPicPr preferRelativeResize="0"/>
          <p:nvPr/>
        </p:nvPicPr>
        <p:blipFill>
          <a:blip r:embed="rId6">
            <a:alphaModFix/>
          </a:blip>
          <a:stretch>
            <a:fillRect/>
          </a:stretch>
        </p:blipFill>
        <p:spPr>
          <a:xfrm>
            <a:off x="10791050" y="3064913"/>
            <a:ext cx="728175" cy="728175"/>
          </a:xfrm>
          <a:prstGeom prst="rect">
            <a:avLst/>
          </a:prstGeom>
          <a:noFill/>
          <a:ln>
            <a:noFill/>
          </a:ln>
        </p:spPr>
      </p:pic>
      <p:sp>
        <p:nvSpPr>
          <p:cNvPr id="252" name="Google Shape;252;p28"/>
          <p:cNvSpPr/>
          <p:nvPr/>
        </p:nvSpPr>
        <p:spPr>
          <a:xfrm>
            <a:off x="8158327" y="2282050"/>
            <a:ext cx="1301700" cy="523200"/>
          </a:xfrm>
          <a:prstGeom prst="roundRect">
            <a:avLst>
              <a:gd fmla="val 16667" name="adj"/>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SG">
                <a:latin typeface="Calibri"/>
                <a:ea typeface="Calibri"/>
                <a:cs typeface="Calibri"/>
                <a:sym typeface="Calibri"/>
              </a:rPr>
              <a:t>G</a:t>
            </a:r>
            <a:r>
              <a:rPr baseline="-25000" lang="en-SG">
                <a:latin typeface="Calibri"/>
                <a:ea typeface="Calibri"/>
                <a:cs typeface="Calibri"/>
                <a:sym typeface="Calibri"/>
              </a:rPr>
              <a:t>A-&gt;B</a:t>
            </a:r>
            <a:r>
              <a:rPr lang="en-SG">
                <a:latin typeface="Calibri"/>
                <a:ea typeface="Calibri"/>
                <a:cs typeface="Calibri"/>
                <a:sym typeface="Calibri"/>
              </a:rPr>
              <a:t> (UNet++)</a:t>
            </a:r>
            <a:endParaRPr>
              <a:latin typeface="Calibri"/>
              <a:ea typeface="Calibri"/>
              <a:cs typeface="Calibri"/>
              <a:sym typeface="Calibri"/>
            </a:endParaRPr>
          </a:p>
          <a:p>
            <a:pPr indent="0" lvl="0" marL="0" rtl="0" algn="ctr">
              <a:spcBef>
                <a:spcPts val="0"/>
              </a:spcBef>
              <a:spcAft>
                <a:spcPts val="0"/>
              </a:spcAft>
              <a:buNone/>
            </a:pPr>
            <a:r>
              <a:rPr lang="en-SG">
                <a:latin typeface="Calibri"/>
                <a:ea typeface="Calibri"/>
                <a:cs typeface="Calibri"/>
                <a:sym typeface="Calibri"/>
              </a:rPr>
              <a:t>US -&gt; Mask</a:t>
            </a:r>
            <a:endParaRPr>
              <a:latin typeface="Calibri"/>
              <a:ea typeface="Calibri"/>
              <a:cs typeface="Calibri"/>
              <a:sym typeface="Calibri"/>
            </a:endParaRPr>
          </a:p>
        </p:txBody>
      </p:sp>
      <p:sp>
        <p:nvSpPr>
          <p:cNvPr id="253" name="Google Shape;253;p28"/>
          <p:cNvSpPr/>
          <p:nvPr/>
        </p:nvSpPr>
        <p:spPr>
          <a:xfrm>
            <a:off x="8161475" y="3227100"/>
            <a:ext cx="1301700" cy="456300"/>
          </a:xfrm>
          <a:prstGeom prst="roundRect">
            <a:avLst>
              <a:gd fmla="val 16667" name="adj"/>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SG">
                <a:latin typeface="Calibri"/>
                <a:ea typeface="Calibri"/>
                <a:cs typeface="Calibri"/>
                <a:sym typeface="Calibri"/>
              </a:rPr>
              <a:t>G</a:t>
            </a:r>
            <a:r>
              <a:rPr baseline="-25000" lang="en-SG">
                <a:latin typeface="Calibri"/>
                <a:ea typeface="Calibri"/>
                <a:cs typeface="Calibri"/>
                <a:sym typeface="Calibri"/>
              </a:rPr>
              <a:t>B-&gt;A</a:t>
            </a:r>
            <a:r>
              <a:rPr lang="en-SG">
                <a:latin typeface="Calibri"/>
                <a:ea typeface="Calibri"/>
                <a:cs typeface="Calibri"/>
                <a:sym typeface="Calibri"/>
              </a:rPr>
              <a:t> (UNet++)</a:t>
            </a:r>
            <a:endParaRPr>
              <a:latin typeface="Calibri"/>
              <a:ea typeface="Calibri"/>
              <a:cs typeface="Calibri"/>
              <a:sym typeface="Calibri"/>
            </a:endParaRPr>
          </a:p>
          <a:p>
            <a:pPr indent="0" lvl="0" marL="0" rtl="0" algn="ctr">
              <a:spcBef>
                <a:spcPts val="0"/>
              </a:spcBef>
              <a:spcAft>
                <a:spcPts val="0"/>
              </a:spcAft>
              <a:buNone/>
            </a:pPr>
            <a:r>
              <a:rPr lang="en-SG">
                <a:latin typeface="Calibri"/>
                <a:ea typeface="Calibri"/>
                <a:cs typeface="Calibri"/>
                <a:sym typeface="Calibri"/>
              </a:rPr>
              <a:t>Mask -&gt; US</a:t>
            </a:r>
            <a:endParaRPr>
              <a:latin typeface="Calibri"/>
              <a:ea typeface="Calibri"/>
              <a:cs typeface="Calibri"/>
              <a:sym typeface="Calibri"/>
            </a:endParaRPr>
          </a:p>
        </p:txBody>
      </p:sp>
      <p:cxnSp>
        <p:nvCxnSpPr>
          <p:cNvPr id="254" name="Google Shape;254;p28"/>
          <p:cNvCxnSpPr>
            <a:stCxn id="253" idx="1"/>
          </p:cNvCxnSpPr>
          <p:nvPr/>
        </p:nvCxnSpPr>
        <p:spPr>
          <a:xfrm flipH="1">
            <a:off x="7975475" y="3455250"/>
            <a:ext cx="186000" cy="519900"/>
          </a:xfrm>
          <a:prstGeom prst="straightConnector1">
            <a:avLst/>
          </a:prstGeom>
          <a:noFill/>
          <a:ln cap="flat" cmpd="sng" w="9525">
            <a:solidFill>
              <a:schemeClr val="dk2"/>
            </a:solidFill>
            <a:prstDash val="solid"/>
            <a:round/>
            <a:headEnd len="med" w="med" type="none"/>
            <a:tailEnd len="med" w="med" type="triangle"/>
          </a:ln>
        </p:spPr>
      </p:cxnSp>
      <p:cxnSp>
        <p:nvCxnSpPr>
          <p:cNvPr id="255" name="Google Shape;255;p28"/>
          <p:cNvCxnSpPr>
            <a:stCxn id="252" idx="3"/>
            <a:endCxn id="246" idx="1"/>
          </p:cNvCxnSpPr>
          <p:nvPr/>
        </p:nvCxnSpPr>
        <p:spPr>
          <a:xfrm>
            <a:off x="9460027" y="2543650"/>
            <a:ext cx="341400" cy="848100"/>
          </a:xfrm>
          <a:prstGeom prst="straightConnector1">
            <a:avLst/>
          </a:prstGeom>
          <a:noFill/>
          <a:ln cap="flat" cmpd="sng" w="9525">
            <a:solidFill>
              <a:schemeClr val="dk2"/>
            </a:solidFill>
            <a:prstDash val="solid"/>
            <a:round/>
            <a:headEnd len="med" w="med" type="none"/>
            <a:tailEnd len="med" w="med" type="triangle"/>
          </a:ln>
        </p:spPr>
      </p:cxnSp>
      <p:cxnSp>
        <p:nvCxnSpPr>
          <p:cNvPr id="256" name="Google Shape;256;p28"/>
          <p:cNvCxnSpPr/>
          <p:nvPr/>
        </p:nvCxnSpPr>
        <p:spPr>
          <a:xfrm rot="10800000">
            <a:off x="9455900" y="3618425"/>
            <a:ext cx="332400" cy="0"/>
          </a:xfrm>
          <a:prstGeom prst="straightConnector1">
            <a:avLst/>
          </a:prstGeom>
          <a:noFill/>
          <a:ln cap="flat" cmpd="sng" w="9525">
            <a:solidFill>
              <a:schemeClr val="dk2"/>
            </a:solidFill>
            <a:prstDash val="solid"/>
            <a:round/>
            <a:headEnd len="med" w="med" type="none"/>
            <a:tailEnd len="med" w="med" type="triangle"/>
          </a:ln>
        </p:spPr>
      </p:cxnSp>
      <p:cxnSp>
        <p:nvCxnSpPr>
          <p:cNvPr id="257" name="Google Shape;257;p28"/>
          <p:cNvCxnSpPr/>
          <p:nvPr/>
        </p:nvCxnSpPr>
        <p:spPr>
          <a:xfrm>
            <a:off x="8587963" y="2805250"/>
            <a:ext cx="0" cy="405000"/>
          </a:xfrm>
          <a:prstGeom prst="straightConnector1">
            <a:avLst/>
          </a:prstGeom>
          <a:noFill/>
          <a:ln cap="flat" cmpd="sng" w="9525">
            <a:solidFill>
              <a:schemeClr val="dk2"/>
            </a:solidFill>
            <a:prstDash val="solid"/>
            <a:round/>
            <a:headEnd len="med" w="med" type="none"/>
            <a:tailEnd len="med" w="med" type="triangle"/>
          </a:ln>
        </p:spPr>
      </p:cxnSp>
      <p:cxnSp>
        <p:nvCxnSpPr>
          <p:cNvPr id="258" name="Google Shape;258;p28"/>
          <p:cNvCxnSpPr/>
          <p:nvPr/>
        </p:nvCxnSpPr>
        <p:spPr>
          <a:xfrm rot="10800000">
            <a:off x="9150863" y="2805250"/>
            <a:ext cx="0" cy="405000"/>
          </a:xfrm>
          <a:prstGeom prst="straightConnector1">
            <a:avLst/>
          </a:prstGeom>
          <a:noFill/>
          <a:ln cap="flat" cmpd="sng" w="9525">
            <a:solidFill>
              <a:schemeClr val="dk2"/>
            </a:solidFill>
            <a:prstDash val="solid"/>
            <a:round/>
            <a:headEnd len="med" w="med" type="none"/>
            <a:tailEnd len="med" w="med" type="triangle"/>
          </a:ln>
        </p:spPr>
      </p:cxnSp>
      <p:sp>
        <p:nvSpPr>
          <p:cNvPr id="259" name="Google Shape;259;p28"/>
          <p:cNvSpPr/>
          <p:nvPr/>
        </p:nvSpPr>
        <p:spPr>
          <a:xfrm>
            <a:off x="6283453" y="1866550"/>
            <a:ext cx="1397100" cy="456300"/>
          </a:xfrm>
          <a:prstGeom prst="roundRect">
            <a:avLst>
              <a:gd fmla="val 16667" name="adj"/>
            </a:avLst>
          </a:prstGeom>
          <a:solidFill>
            <a:srgbClr val="FCE5CD"/>
          </a:solidFill>
          <a:ln cap="flat" cmpd="sng" w="9525">
            <a:solidFill>
              <a:srgbClr val="F9CB9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SG">
                <a:latin typeface="Calibri"/>
                <a:ea typeface="Calibri"/>
                <a:cs typeface="Calibri"/>
                <a:sym typeface="Calibri"/>
              </a:rPr>
              <a:t>D_A PatchGAN</a:t>
            </a:r>
            <a:endParaRPr>
              <a:latin typeface="Calibri"/>
              <a:ea typeface="Calibri"/>
              <a:cs typeface="Calibri"/>
              <a:sym typeface="Calibri"/>
            </a:endParaRPr>
          </a:p>
        </p:txBody>
      </p:sp>
      <p:sp>
        <p:nvSpPr>
          <p:cNvPr id="260" name="Google Shape;260;p28"/>
          <p:cNvSpPr/>
          <p:nvPr/>
        </p:nvSpPr>
        <p:spPr>
          <a:xfrm>
            <a:off x="10067652" y="1866550"/>
            <a:ext cx="1301700" cy="456300"/>
          </a:xfrm>
          <a:prstGeom prst="roundRect">
            <a:avLst>
              <a:gd fmla="val 16667" name="adj"/>
            </a:avLst>
          </a:prstGeom>
          <a:solidFill>
            <a:srgbClr val="FCE5CD"/>
          </a:solidFill>
          <a:ln cap="flat" cmpd="sng" w="9525">
            <a:solidFill>
              <a:srgbClr val="F9CB9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SG">
                <a:solidFill>
                  <a:schemeClr val="dk1"/>
                </a:solidFill>
                <a:latin typeface="Calibri"/>
                <a:ea typeface="Calibri"/>
                <a:cs typeface="Calibri"/>
                <a:sym typeface="Calibri"/>
              </a:rPr>
              <a:t>D_B PatchGAN</a:t>
            </a:r>
            <a:endParaRPr>
              <a:latin typeface="Calibri"/>
              <a:ea typeface="Calibri"/>
              <a:cs typeface="Calibri"/>
              <a:sym typeface="Calibri"/>
            </a:endParaRPr>
          </a:p>
        </p:txBody>
      </p:sp>
      <p:cxnSp>
        <p:nvCxnSpPr>
          <p:cNvPr id="261" name="Google Shape;261;p28"/>
          <p:cNvCxnSpPr/>
          <p:nvPr/>
        </p:nvCxnSpPr>
        <p:spPr>
          <a:xfrm flipH="1" rot="10800000">
            <a:off x="7194145" y="2348950"/>
            <a:ext cx="178200" cy="365700"/>
          </a:xfrm>
          <a:prstGeom prst="straightConnector1">
            <a:avLst/>
          </a:prstGeom>
          <a:noFill/>
          <a:ln cap="flat" cmpd="sng" w="9525">
            <a:solidFill>
              <a:schemeClr val="dk2"/>
            </a:solidFill>
            <a:prstDash val="solid"/>
            <a:round/>
            <a:headEnd len="med" w="med" type="none"/>
            <a:tailEnd len="med" w="med" type="triangle"/>
          </a:ln>
        </p:spPr>
      </p:cxnSp>
      <p:cxnSp>
        <p:nvCxnSpPr>
          <p:cNvPr id="262" name="Google Shape;262;p28"/>
          <p:cNvCxnSpPr>
            <a:endCxn id="252" idx="1"/>
          </p:cNvCxnSpPr>
          <p:nvPr/>
        </p:nvCxnSpPr>
        <p:spPr>
          <a:xfrm flipH="1" rot="10800000">
            <a:off x="8001127" y="2543650"/>
            <a:ext cx="157200" cy="313800"/>
          </a:xfrm>
          <a:prstGeom prst="straightConnector1">
            <a:avLst/>
          </a:prstGeom>
          <a:noFill/>
          <a:ln cap="flat" cmpd="sng" w="9525">
            <a:solidFill>
              <a:schemeClr val="dk2"/>
            </a:solidFill>
            <a:prstDash val="solid"/>
            <a:round/>
            <a:headEnd len="med" w="med" type="none"/>
            <a:tailEnd len="med" w="med" type="triangle"/>
          </a:ln>
        </p:spPr>
      </p:cxnSp>
      <p:cxnSp>
        <p:nvCxnSpPr>
          <p:cNvPr id="263" name="Google Shape;263;p28"/>
          <p:cNvCxnSpPr>
            <a:stCxn id="253" idx="2"/>
            <a:endCxn id="259" idx="3"/>
          </p:cNvCxnSpPr>
          <p:nvPr/>
        </p:nvCxnSpPr>
        <p:spPr>
          <a:xfrm flipH="1" rot="5400000">
            <a:off x="7451975" y="2323050"/>
            <a:ext cx="1588800" cy="1131900"/>
          </a:xfrm>
          <a:prstGeom prst="curvedConnector4">
            <a:avLst>
              <a:gd fmla="val -25554" name="adj1"/>
              <a:gd fmla="val 68312" name="adj2"/>
            </a:avLst>
          </a:prstGeom>
          <a:noFill/>
          <a:ln cap="flat" cmpd="sng" w="9525">
            <a:solidFill>
              <a:schemeClr val="dk2"/>
            </a:solidFill>
            <a:prstDash val="solid"/>
            <a:round/>
            <a:headEnd len="med" w="med" type="none"/>
            <a:tailEnd len="med" w="med" type="none"/>
          </a:ln>
        </p:spPr>
      </p:cxnSp>
      <p:cxnSp>
        <p:nvCxnSpPr>
          <p:cNvPr id="264" name="Google Shape;264;p28"/>
          <p:cNvCxnSpPr>
            <a:stCxn id="252" idx="3"/>
            <a:endCxn id="260" idx="1"/>
          </p:cNvCxnSpPr>
          <p:nvPr/>
        </p:nvCxnSpPr>
        <p:spPr>
          <a:xfrm flipH="1" rot="10800000">
            <a:off x="9460027" y="2094850"/>
            <a:ext cx="607500" cy="448800"/>
          </a:xfrm>
          <a:prstGeom prst="curvedConnector3">
            <a:avLst>
              <a:gd fmla="val 50010" name="adj1"/>
            </a:avLst>
          </a:prstGeom>
          <a:noFill/>
          <a:ln cap="flat" cmpd="sng" w="9525">
            <a:solidFill>
              <a:schemeClr val="dk2"/>
            </a:solidFill>
            <a:prstDash val="solid"/>
            <a:round/>
            <a:headEnd len="med" w="med" type="none"/>
            <a:tailEnd len="med" w="med" type="none"/>
          </a:ln>
        </p:spPr>
      </p:cxnSp>
      <p:sp>
        <p:nvSpPr>
          <p:cNvPr id="265" name="Google Shape;265;p28"/>
          <p:cNvSpPr/>
          <p:nvPr/>
        </p:nvSpPr>
        <p:spPr>
          <a:xfrm>
            <a:off x="7892075" y="4310538"/>
            <a:ext cx="1834200" cy="676200"/>
          </a:xfrm>
          <a:prstGeom prst="roundRect">
            <a:avLst>
              <a:gd fmla="val 16667" name="adj"/>
            </a:avLst>
          </a:prstGeom>
          <a:solidFill>
            <a:srgbClr val="D5A6BD"/>
          </a:solidFill>
          <a:ln cap="flat" cmpd="sng" w="9525">
            <a:solidFill>
              <a:srgbClr val="D5A6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SG">
                <a:latin typeface="Calibri"/>
                <a:ea typeface="Calibri"/>
                <a:cs typeface="Calibri"/>
                <a:sym typeface="Calibri"/>
              </a:rPr>
              <a:t>N Paired (same patient)</a:t>
            </a:r>
            <a:endParaRPr>
              <a:latin typeface="Calibri"/>
              <a:ea typeface="Calibri"/>
              <a:cs typeface="Calibri"/>
              <a:sym typeface="Calibri"/>
            </a:endParaRPr>
          </a:p>
        </p:txBody>
      </p:sp>
      <p:sp>
        <p:nvSpPr>
          <p:cNvPr id="266" name="Google Shape;266;p28"/>
          <p:cNvSpPr/>
          <p:nvPr/>
        </p:nvSpPr>
        <p:spPr>
          <a:xfrm>
            <a:off x="10116651" y="4385425"/>
            <a:ext cx="868800" cy="523200"/>
          </a:xfrm>
          <a:prstGeom prst="roundRect">
            <a:avLst>
              <a:gd fmla="val 16667" name="adj"/>
            </a:avLst>
          </a:prstGeom>
          <a:solidFill>
            <a:srgbClr val="D5A6BD"/>
          </a:solidFill>
          <a:ln cap="flat" cmpd="sng" w="9525">
            <a:solidFill>
              <a:srgbClr val="D5A6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SG">
                <a:latin typeface="Calibri"/>
                <a:ea typeface="Calibri"/>
                <a:cs typeface="Calibri"/>
                <a:sym typeface="Calibri"/>
              </a:rPr>
              <a:t>L_seg</a:t>
            </a:r>
            <a:endParaRPr>
              <a:latin typeface="Calibri"/>
              <a:ea typeface="Calibri"/>
              <a:cs typeface="Calibri"/>
              <a:sym typeface="Calibri"/>
            </a:endParaRPr>
          </a:p>
          <a:p>
            <a:pPr indent="0" lvl="0" marL="0" rtl="0" algn="ctr">
              <a:spcBef>
                <a:spcPts val="0"/>
              </a:spcBef>
              <a:spcAft>
                <a:spcPts val="0"/>
              </a:spcAft>
              <a:buNone/>
            </a:pPr>
            <a:r>
              <a:rPr lang="en-SG">
                <a:latin typeface="Calibri"/>
                <a:ea typeface="Calibri"/>
                <a:cs typeface="Calibri"/>
                <a:sym typeface="Calibri"/>
              </a:rPr>
              <a:t>CE loss</a:t>
            </a:r>
            <a:endParaRPr>
              <a:latin typeface="Calibri"/>
              <a:ea typeface="Calibri"/>
              <a:cs typeface="Calibri"/>
              <a:sym typeface="Calibri"/>
            </a:endParaRPr>
          </a:p>
        </p:txBody>
      </p:sp>
      <p:cxnSp>
        <p:nvCxnSpPr>
          <p:cNvPr id="267" name="Google Shape;267;p28"/>
          <p:cNvCxnSpPr>
            <a:stCxn id="265" idx="0"/>
            <a:endCxn id="253" idx="2"/>
          </p:cNvCxnSpPr>
          <p:nvPr/>
        </p:nvCxnSpPr>
        <p:spPr>
          <a:xfrm flipH="1" rot="10800000">
            <a:off x="8809175" y="3683538"/>
            <a:ext cx="3300" cy="627000"/>
          </a:xfrm>
          <a:prstGeom prst="straightConnector1">
            <a:avLst/>
          </a:prstGeom>
          <a:noFill/>
          <a:ln cap="flat" cmpd="sng" w="9525">
            <a:solidFill>
              <a:schemeClr val="dk2"/>
            </a:solidFill>
            <a:prstDash val="solid"/>
            <a:round/>
            <a:headEnd len="med" w="med" type="none"/>
            <a:tailEnd len="med" w="med" type="triangle"/>
          </a:ln>
        </p:spPr>
      </p:cxnSp>
      <p:cxnSp>
        <p:nvCxnSpPr>
          <p:cNvPr id="268" name="Google Shape;268;p28"/>
          <p:cNvCxnSpPr>
            <a:stCxn id="265" idx="3"/>
            <a:endCxn id="266" idx="1"/>
          </p:cNvCxnSpPr>
          <p:nvPr/>
        </p:nvCxnSpPr>
        <p:spPr>
          <a:xfrm flipH="1" rot="10800000">
            <a:off x="9726275" y="4647138"/>
            <a:ext cx="390300" cy="1500"/>
          </a:xfrm>
          <a:prstGeom prst="straightConnector1">
            <a:avLst/>
          </a:prstGeom>
          <a:noFill/>
          <a:ln cap="flat" cmpd="sng" w="9525">
            <a:solidFill>
              <a:schemeClr val="dk2"/>
            </a:solidFill>
            <a:prstDash val="solid"/>
            <a:round/>
            <a:headEnd len="med" w="med" type="none"/>
            <a:tailEnd len="med" w="med" type="triangle"/>
          </a:ln>
        </p:spPr>
      </p:cxnSp>
      <p:cxnSp>
        <p:nvCxnSpPr>
          <p:cNvPr id="269" name="Google Shape;269;p28"/>
          <p:cNvCxnSpPr>
            <a:stCxn id="252" idx="3"/>
            <a:endCxn id="266" idx="1"/>
          </p:cNvCxnSpPr>
          <p:nvPr/>
        </p:nvCxnSpPr>
        <p:spPr>
          <a:xfrm>
            <a:off x="9460027" y="2543650"/>
            <a:ext cx="656700" cy="2103300"/>
          </a:xfrm>
          <a:prstGeom prst="bentConnector3">
            <a:avLst>
              <a:gd fmla="val 49994" name="adj1"/>
            </a:avLst>
          </a:prstGeom>
          <a:noFill/>
          <a:ln cap="flat" cmpd="sng" w="9525">
            <a:solidFill>
              <a:schemeClr val="dk2"/>
            </a:solidFill>
            <a:prstDash val="solid"/>
            <a:round/>
            <a:headEnd len="med" w="med" type="none"/>
            <a:tailEnd len="med" w="med" type="none"/>
          </a:ln>
        </p:spPr>
      </p:cxnSp>
      <p:pic>
        <p:nvPicPr>
          <p:cNvPr id="270" name="Google Shape;270;p28"/>
          <p:cNvPicPr preferRelativeResize="0"/>
          <p:nvPr/>
        </p:nvPicPr>
        <p:blipFill>
          <a:blip r:embed="rId7">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9"/>
          <p:cNvSpPr txBox="1"/>
          <p:nvPr/>
        </p:nvSpPr>
        <p:spPr>
          <a:xfrm>
            <a:off x="819451" y="1297462"/>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Ablation</a:t>
            </a:r>
            <a:endParaRPr/>
          </a:p>
        </p:txBody>
      </p:sp>
      <p:sp>
        <p:nvSpPr>
          <p:cNvPr id="276" name="Google Shape;276;p29"/>
          <p:cNvSpPr txBox="1"/>
          <p:nvPr/>
        </p:nvSpPr>
        <p:spPr>
          <a:xfrm>
            <a:off x="1195350" y="2174850"/>
            <a:ext cx="9801300" cy="230880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t/>
            </a:r>
            <a:endParaRPr sz="1600">
              <a:solidFill>
                <a:schemeClr val="dk1"/>
              </a:solidFill>
            </a:endParaRPr>
          </a:p>
          <a:p>
            <a:pPr indent="-330200" lvl="0" marL="457200" marR="0" rtl="0" algn="l">
              <a:spcBef>
                <a:spcPts val="0"/>
              </a:spcBef>
              <a:spcAft>
                <a:spcPts val="0"/>
              </a:spcAft>
              <a:buClr>
                <a:schemeClr val="dk1"/>
              </a:buClr>
              <a:buSzPts val="1600"/>
              <a:buChar char="•"/>
            </a:pPr>
            <a:r>
              <a:rPr lang="en-SG" sz="1600">
                <a:solidFill>
                  <a:schemeClr val="dk1"/>
                </a:solidFill>
              </a:rPr>
              <a:t>Each approach is partitioned</a:t>
            </a:r>
            <a:endParaRPr sz="1600">
              <a:solidFill>
                <a:schemeClr val="dk1"/>
              </a:solidFill>
            </a:endParaRPr>
          </a:p>
          <a:p>
            <a:pPr indent="-330200" lvl="1" marL="914400" marR="0" rtl="0" algn="l">
              <a:spcBef>
                <a:spcPts val="0"/>
              </a:spcBef>
              <a:spcAft>
                <a:spcPts val="0"/>
              </a:spcAft>
              <a:buClr>
                <a:schemeClr val="dk1"/>
              </a:buClr>
              <a:buSzPts val="1600"/>
              <a:buChar char="○"/>
            </a:pPr>
            <a:r>
              <a:rPr lang="en-SG" sz="1600">
                <a:solidFill>
                  <a:schemeClr val="dk1"/>
                </a:solidFill>
              </a:rPr>
              <a:t>By complexity</a:t>
            </a:r>
            <a:endParaRPr sz="1600">
              <a:solidFill>
                <a:schemeClr val="dk1"/>
              </a:solidFill>
            </a:endParaRPr>
          </a:p>
          <a:p>
            <a:pPr indent="-330200" lvl="2" marL="1371600" marR="0" rtl="0" algn="l">
              <a:spcBef>
                <a:spcPts val="0"/>
              </a:spcBef>
              <a:spcAft>
                <a:spcPts val="0"/>
              </a:spcAft>
              <a:buClr>
                <a:schemeClr val="dk1"/>
              </a:buClr>
              <a:buSzPts val="1600"/>
              <a:buChar char="■"/>
            </a:pPr>
            <a:r>
              <a:rPr lang="en-SG" sz="1600">
                <a:solidFill>
                  <a:schemeClr val="dk1"/>
                </a:solidFill>
              </a:rPr>
              <a:t>Multiclass: labels 1-4 (cortex, capsule, medulla, central echo complex), 0 (background)</a:t>
            </a:r>
            <a:endParaRPr sz="1600">
              <a:solidFill>
                <a:schemeClr val="dk1"/>
              </a:solidFill>
            </a:endParaRPr>
          </a:p>
          <a:p>
            <a:pPr indent="-330200" lvl="2" marL="1371600" marR="0" rtl="0" algn="l">
              <a:spcBef>
                <a:spcPts val="0"/>
              </a:spcBef>
              <a:spcAft>
                <a:spcPts val="0"/>
              </a:spcAft>
              <a:buClr>
                <a:schemeClr val="dk1"/>
              </a:buClr>
              <a:buSzPts val="1600"/>
              <a:buChar char="■"/>
            </a:pPr>
            <a:r>
              <a:rPr lang="en-SG" sz="1600">
                <a:solidFill>
                  <a:schemeClr val="dk1"/>
                </a:solidFill>
              </a:rPr>
              <a:t>Binary: labels 1 (kidney), 0 (background)</a:t>
            </a:r>
            <a:endParaRPr sz="1600">
              <a:solidFill>
                <a:schemeClr val="dk1"/>
              </a:solidFill>
            </a:endParaRPr>
          </a:p>
          <a:p>
            <a:pPr indent="-330200" lvl="1" marL="914400" marR="0" rtl="0" algn="l">
              <a:spcBef>
                <a:spcPts val="0"/>
              </a:spcBef>
              <a:spcAft>
                <a:spcPts val="0"/>
              </a:spcAft>
              <a:buClr>
                <a:schemeClr val="dk1"/>
              </a:buClr>
              <a:buSzPts val="1600"/>
              <a:buChar char="○"/>
            </a:pPr>
            <a:r>
              <a:rPr lang="en-SG" sz="1600">
                <a:solidFill>
                  <a:schemeClr val="dk1"/>
                </a:solidFill>
              </a:rPr>
              <a:t>By the amount of annotated (paired) data available</a:t>
            </a:r>
            <a:endParaRPr sz="1600">
              <a:solidFill>
                <a:schemeClr val="dk1"/>
              </a:solidFill>
            </a:endParaRPr>
          </a:p>
          <a:p>
            <a:pPr indent="-330200" lvl="2" marL="1371600" marR="0" rtl="0" algn="l">
              <a:spcBef>
                <a:spcPts val="0"/>
              </a:spcBef>
              <a:spcAft>
                <a:spcPts val="0"/>
              </a:spcAft>
              <a:buClr>
                <a:schemeClr val="dk1"/>
              </a:buClr>
              <a:buSzPts val="1600"/>
              <a:buChar char="■"/>
            </a:pPr>
            <a:r>
              <a:rPr lang="en-SG" sz="1600">
                <a:solidFill>
                  <a:schemeClr val="dk1"/>
                </a:solidFill>
              </a:rPr>
              <a:t>N-paired (5, 10, 25, 50, 93)</a:t>
            </a:r>
            <a:endParaRPr sz="1600">
              <a:solidFill>
                <a:schemeClr val="dk1"/>
              </a:solidFill>
            </a:endParaRPr>
          </a:p>
          <a:p>
            <a:pPr indent="-330200" lvl="1" marL="914400" rtl="0" algn="l">
              <a:spcBef>
                <a:spcPts val="0"/>
              </a:spcBef>
              <a:spcAft>
                <a:spcPts val="0"/>
              </a:spcAft>
              <a:buClr>
                <a:schemeClr val="dk1"/>
              </a:buClr>
              <a:buSzPts val="1600"/>
              <a:buChar char="○"/>
            </a:pPr>
            <a:r>
              <a:rPr lang="en-SG" sz="1600">
                <a:solidFill>
                  <a:schemeClr val="dk1"/>
                </a:solidFill>
              </a:rPr>
              <a:t>Weighted Dice : 0.0 (background), 0.25 (each anatomical region), 1.0 (all kidney) </a:t>
            </a:r>
            <a:endParaRPr sz="1600">
              <a:solidFill>
                <a:schemeClr val="dk1"/>
              </a:solidFill>
            </a:endParaRPr>
          </a:p>
          <a:p>
            <a:pPr indent="-330200" lvl="1" marL="914400" rtl="0" algn="l">
              <a:spcBef>
                <a:spcPts val="0"/>
              </a:spcBef>
              <a:spcAft>
                <a:spcPts val="0"/>
              </a:spcAft>
              <a:buClr>
                <a:schemeClr val="dk1"/>
              </a:buClr>
              <a:buSzPts val="1600"/>
              <a:buChar char="○"/>
            </a:pPr>
            <a:r>
              <a:rPr lang="en-SG" sz="1600">
                <a:solidFill>
                  <a:schemeClr val="dk1"/>
                </a:solidFill>
              </a:rPr>
              <a:t>Output: thresholding (binary), argmax (multiclass)</a:t>
            </a:r>
            <a:endParaRPr sz="1600">
              <a:solidFill>
                <a:schemeClr val="dk1"/>
              </a:solidFill>
            </a:endParaRPr>
          </a:p>
        </p:txBody>
      </p:sp>
      <p:pic>
        <p:nvPicPr>
          <p:cNvPr id="277" name="Google Shape;277;p29"/>
          <p:cNvPicPr preferRelativeResize="0"/>
          <p:nvPr/>
        </p:nvPicPr>
        <p:blipFill>
          <a:blip r:embed="rId3">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0"/>
          <p:cNvSpPr txBox="1"/>
          <p:nvPr/>
        </p:nvSpPr>
        <p:spPr>
          <a:xfrm>
            <a:off x="780325" y="1232200"/>
            <a:ext cx="736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Implementation Details</a:t>
            </a:r>
            <a:endParaRPr/>
          </a:p>
        </p:txBody>
      </p:sp>
      <p:sp>
        <p:nvSpPr>
          <p:cNvPr id="283" name="Google Shape;283;p30"/>
          <p:cNvSpPr txBox="1"/>
          <p:nvPr/>
        </p:nvSpPr>
        <p:spPr>
          <a:xfrm>
            <a:off x="1964225" y="2593150"/>
            <a:ext cx="6516000" cy="1323600"/>
          </a:xfrm>
          <a:prstGeom prst="rect">
            <a:avLst/>
          </a:prstGeom>
          <a:noFill/>
          <a:ln>
            <a:noFill/>
          </a:ln>
        </p:spPr>
        <p:txBody>
          <a:bodyPr anchorCtr="0" anchor="t" bIns="45700" lIns="91425" spcFirstLastPara="1" rIns="91425" wrap="square" tIns="45700">
            <a:spAutoFit/>
          </a:bodyPr>
          <a:lstStyle/>
          <a:p>
            <a:pPr indent="-273050" lvl="0" marL="285750" marR="0" rtl="0" algn="l">
              <a:spcBef>
                <a:spcPts val="0"/>
              </a:spcBef>
              <a:spcAft>
                <a:spcPts val="0"/>
              </a:spcAft>
              <a:buClr>
                <a:schemeClr val="dk1"/>
              </a:buClr>
              <a:buSzPts val="1600"/>
              <a:buFont typeface="Arial"/>
              <a:buChar char="•"/>
            </a:pPr>
            <a:r>
              <a:rPr lang="en-SG" sz="1600"/>
              <a:t>All models used the </a:t>
            </a:r>
            <a:r>
              <a:rPr lang="en-SG" sz="1600">
                <a:solidFill>
                  <a:srgbClr val="FF0000"/>
                </a:solidFill>
                <a:latin typeface="Roboto Mono"/>
                <a:ea typeface="Roboto Mono"/>
                <a:cs typeface="Roboto Mono"/>
                <a:sym typeface="Roboto Mono"/>
              </a:rPr>
              <a:t>segmentation-models-pytorch</a:t>
            </a:r>
            <a:r>
              <a:rPr lang="en-SG" sz="1600"/>
              <a:t> library </a:t>
            </a:r>
            <a:endParaRPr sz="1600"/>
          </a:p>
          <a:p>
            <a:pPr indent="-273050" lvl="0" marL="285750" marR="0" rtl="0" algn="l">
              <a:spcBef>
                <a:spcPts val="0"/>
              </a:spcBef>
              <a:spcAft>
                <a:spcPts val="0"/>
              </a:spcAft>
              <a:buSzPts val="1600"/>
              <a:buChar char="•"/>
            </a:pPr>
            <a:r>
              <a:rPr lang="en-SG" sz="1600"/>
              <a:t>40 (Epochs), 1x10</a:t>
            </a:r>
            <a:r>
              <a:rPr baseline="30000" lang="en-SG" sz="1600"/>
              <a:t>-4 </a:t>
            </a:r>
            <a:r>
              <a:rPr lang="en-SG" sz="1600">
                <a:solidFill>
                  <a:schemeClr val="dk1"/>
                </a:solidFill>
              </a:rPr>
              <a:t>(LR)</a:t>
            </a:r>
            <a:endParaRPr sz="1600">
              <a:solidFill>
                <a:schemeClr val="dk1"/>
              </a:solidFill>
            </a:endParaRPr>
          </a:p>
          <a:p>
            <a:pPr indent="-273050" lvl="0" marL="285750" marR="0" rtl="0" algn="l">
              <a:spcBef>
                <a:spcPts val="0"/>
              </a:spcBef>
              <a:spcAft>
                <a:spcPts val="0"/>
              </a:spcAft>
              <a:buClr>
                <a:schemeClr val="dk1"/>
              </a:buClr>
              <a:buSzPts val="1600"/>
              <a:buChar char="•"/>
            </a:pPr>
            <a:r>
              <a:rPr lang="en-SG" sz="1600">
                <a:solidFill>
                  <a:schemeClr val="dk1"/>
                </a:solidFill>
              </a:rPr>
              <a:t>λ</a:t>
            </a:r>
            <a:r>
              <a:rPr baseline="-25000" lang="en-SG" sz="1600">
                <a:solidFill>
                  <a:schemeClr val="dk1"/>
                </a:solidFill>
              </a:rPr>
              <a:t>cyc </a:t>
            </a:r>
            <a:r>
              <a:rPr lang="en-SG" sz="1600">
                <a:solidFill>
                  <a:schemeClr val="dk1"/>
                </a:solidFill>
              </a:rPr>
              <a:t>= 10, λ</a:t>
            </a:r>
            <a:r>
              <a:rPr baseline="-25000" lang="en-SG" sz="1600">
                <a:solidFill>
                  <a:schemeClr val="dk1"/>
                </a:solidFill>
              </a:rPr>
              <a:t>seg</a:t>
            </a:r>
            <a:r>
              <a:rPr lang="en-SG" sz="1600">
                <a:solidFill>
                  <a:schemeClr val="dk1"/>
                </a:solidFill>
              </a:rPr>
              <a:t> = 3, and λ</a:t>
            </a:r>
            <a:r>
              <a:rPr baseline="-25000" lang="en-SG" sz="1600">
                <a:solidFill>
                  <a:schemeClr val="dk1"/>
                </a:solidFill>
              </a:rPr>
              <a:t>id</a:t>
            </a:r>
            <a:r>
              <a:rPr lang="en-SG" sz="1600">
                <a:solidFill>
                  <a:schemeClr val="dk1"/>
                </a:solidFill>
              </a:rPr>
              <a:t> = 5</a:t>
            </a:r>
            <a:endParaRPr sz="1600">
              <a:solidFill>
                <a:schemeClr val="dk1"/>
              </a:solidFill>
            </a:endParaRPr>
          </a:p>
          <a:p>
            <a:pPr indent="-273050" lvl="0" marL="285750" marR="0" rtl="0" algn="l">
              <a:spcBef>
                <a:spcPts val="0"/>
              </a:spcBef>
              <a:spcAft>
                <a:spcPts val="0"/>
              </a:spcAft>
              <a:buClr>
                <a:schemeClr val="dk1"/>
              </a:buClr>
              <a:buSzPts val="1600"/>
              <a:buChar char="•"/>
            </a:pPr>
            <a:r>
              <a:rPr lang="en-SG" sz="1600">
                <a:solidFill>
                  <a:schemeClr val="dk1"/>
                </a:solidFill>
              </a:rPr>
              <a:t>Validation = Dice &amp; IOU from per class (tp, fp, tn, fn) </a:t>
            </a:r>
            <a:endParaRPr sz="1600">
              <a:solidFill>
                <a:schemeClr val="dk1"/>
              </a:solidFill>
            </a:endParaRPr>
          </a:p>
          <a:p>
            <a:pPr indent="-273050" lvl="0" marL="285750" marR="0" rtl="0" algn="l">
              <a:spcBef>
                <a:spcPts val="0"/>
              </a:spcBef>
              <a:spcAft>
                <a:spcPts val="0"/>
              </a:spcAft>
              <a:buClr>
                <a:schemeClr val="dk1"/>
              </a:buClr>
              <a:buSzPts val="1600"/>
              <a:buChar char="•"/>
            </a:pPr>
            <a:r>
              <a:rPr lang="en-SG" sz="1600">
                <a:solidFill>
                  <a:schemeClr val="dk1"/>
                </a:solidFill>
              </a:rPr>
              <a:t>All evaluation used held-out Set A test split</a:t>
            </a:r>
            <a:endParaRPr sz="1600">
              <a:solidFill>
                <a:schemeClr val="dk1"/>
              </a:solidFill>
            </a:endParaRPr>
          </a:p>
        </p:txBody>
      </p:sp>
      <p:pic>
        <p:nvPicPr>
          <p:cNvPr id="284" name="Google Shape;284;p30"/>
          <p:cNvPicPr preferRelativeResize="0"/>
          <p:nvPr/>
        </p:nvPicPr>
        <p:blipFill>
          <a:blip r:embed="rId3">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p31"/>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pic>
        <p:nvPicPr>
          <p:cNvPr id="291" name="Google Shape;291;p31"/>
          <p:cNvPicPr preferRelativeResize="0"/>
          <p:nvPr/>
        </p:nvPicPr>
        <p:blipFill>
          <a:blip r:embed="rId3">
            <a:alphaModFix/>
          </a:blip>
          <a:stretch>
            <a:fillRect/>
          </a:stretch>
        </p:blipFill>
        <p:spPr>
          <a:xfrm>
            <a:off x="1306097" y="6135025"/>
            <a:ext cx="1634929" cy="304650"/>
          </a:xfrm>
          <a:prstGeom prst="rect">
            <a:avLst/>
          </a:prstGeom>
          <a:noFill/>
          <a:ln>
            <a:noFill/>
          </a:ln>
        </p:spPr>
      </p:pic>
      <p:sp>
        <p:nvSpPr>
          <p:cNvPr id="292" name="Google Shape;292;p31"/>
          <p:cNvSpPr txBox="1"/>
          <p:nvPr/>
        </p:nvSpPr>
        <p:spPr>
          <a:xfrm>
            <a:off x="793376" y="632012"/>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Results</a:t>
            </a:r>
            <a:endParaRPr/>
          </a:p>
        </p:txBody>
      </p:sp>
      <p:sp>
        <p:nvSpPr>
          <p:cNvPr id="293" name="Google Shape;293;p31"/>
          <p:cNvSpPr txBox="1"/>
          <p:nvPr/>
        </p:nvSpPr>
        <p:spPr>
          <a:xfrm>
            <a:off x="856300" y="1578350"/>
            <a:ext cx="4584600" cy="3755700"/>
          </a:xfrm>
          <a:prstGeom prst="rect">
            <a:avLst/>
          </a:prstGeom>
          <a:noFill/>
          <a:ln>
            <a:noFill/>
          </a:ln>
        </p:spPr>
        <p:txBody>
          <a:bodyPr anchorCtr="0" anchor="t" bIns="45700" lIns="91425" spcFirstLastPara="1" rIns="91425" wrap="square" tIns="45700">
            <a:spAutoFit/>
          </a:bodyPr>
          <a:lstStyle/>
          <a:p>
            <a:pPr indent="-279400" lvl="0" marL="285750" marR="0" rtl="0" algn="l">
              <a:spcBef>
                <a:spcPts val="0"/>
              </a:spcBef>
              <a:spcAft>
                <a:spcPts val="0"/>
              </a:spcAft>
              <a:buClr>
                <a:schemeClr val="dk1"/>
              </a:buClr>
              <a:buSzPts val="1700"/>
              <a:buChar char="•"/>
            </a:pPr>
            <a:r>
              <a:rPr lang="en-SG" sz="1700">
                <a:solidFill>
                  <a:schemeClr val="dk1"/>
                </a:solidFill>
              </a:rPr>
              <a:t>Fully Supervised (highest overall performance)</a:t>
            </a:r>
            <a:endParaRPr sz="1700">
              <a:solidFill>
                <a:schemeClr val="dk1"/>
              </a:solidFill>
            </a:endParaRPr>
          </a:p>
          <a:p>
            <a:pPr indent="-336550" lvl="1" marL="914400" marR="0" rtl="0" algn="l">
              <a:spcBef>
                <a:spcPts val="0"/>
              </a:spcBef>
              <a:spcAft>
                <a:spcPts val="0"/>
              </a:spcAft>
              <a:buClr>
                <a:schemeClr val="dk1"/>
              </a:buClr>
              <a:buSzPts val="1700"/>
              <a:buChar char="○"/>
            </a:pPr>
            <a:r>
              <a:rPr lang="en-SG" sz="1700">
                <a:solidFill>
                  <a:schemeClr val="dk1"/>
                </a:solidFill>
              </a:rPr>
              <a:t>Binary all: 0.90 (Dice), 0.82 (IoU)</a:t>
            </a:r>
            <a:endParaRPr sz="1700">
              <a:solidFill>
                <a:schemeClr val="dk1"/>
              </a:solidFill>
            </a:endParaRPr>
          </a:p>
          <a:p>
            <a:pPr indent="-336550" lvl="1" marL="914400" marR="0" rtl="0" algn="l">
              <a:spcBef>
                <a:spcPts val="0"/>
              </a:spcBef>
              <a:spcAft>
                <a:spcPts val="0"/>
              </a:spcAft>
              <a:buClr>
                <a:schemeClr val="dk1"/>
              </a:buClr>
              <a:buSzPts val="1700"/>
              <a:buChar char="○"/>
            </a:pPr>
            <a:r>
              <a:rPr lang="en-SG" sz="1700">
                <a:solidFill>
                  <a:schemeClr val="dk1"/>
                </a:solidFill>
              </a:rPr>
              <a:t>Multiclass all: 0.63 (Dice), 0.47 (IoU)</a:t>
            </a:r>
            <a:endParaRPr sz="1700">
              <a:solidFill>
                <a:schemeClr val="dk1"/>
              </a:solidFill>
            </a:endParaRPr>
          </a:p>
          <a:p>
            <a:pPr indent="0" lvl="0" marL="914400" marR="0" rtl="0" algn="l">
              <a:spcBef>
                <a:spcPts val="0"/>
              </a:spcBef>
              <a:spcAft>
                <a:spcPts val="0"/>
              </a:spcAft>
              <a:buNone/>
            </a:pPr>
            <a:r>
              <a:t/>
            </a:r>
            <a:endParaRPr sz="1700">
              <a:solidFill>
                <a:schemeClr val="dk1"/>
              </a:solidFill>
            </a:endParaRPr>
          </a:p>
          <a:p>
            <a:pPr indent="-279400" lvl="0" marL="285750" marR="0" rtl="0" algn="l">
              <a:spcBef>
                <a:spcPts val="0"/>
              </a:spcBef>
              <a:spcAft>
                <a:spcPts val="0"/>
              </a:spcAft>
              <a:buClr>
                <a:schemeClr val="dk1"/>
              </a:buClr>
              <a:buSzPts val="1700"/>
              <a:buChar char="•"/>
            </a:pPr>
            <a:r>
              <a:rPr lang="en-SG" sz="1700">
                <a:solidFill>
                  <a:schemeClr val="dk1"/>
                </a:solidFill>
              </a:rPr>
              <a:t>Unpaired CycleGAN</a:t>
            </a:r>
            <a:endParaRPr sz="1700">
              <a:solidFill>
                <a:schemeClr val="dk1"/>
              </a:solidFill>
            </a:endParaRPr>
          </a:p>
          <a:p>
            <a:pPr indent="-336550" lvl="1" marL="914400" marR="0" rtl="0" algn="l">
              <a:spcBef>
                <a:spcPts val="0"/>
              </a:spcBef>
              <a:spcAft>
                <a:spcPts val="0"/>
              </a:spcAft>
              <a:buClr>
                <a:schemeClr val="dk1"/>
              </a:buClr>
              <a:buSzPts val="1700"/>
              <a:buChar char="○"/>
            </a:pPr>
            <a:r>
              <a:rPr lang="en-SG" sz="1700">
                <a:solidFill>
                  <a:schemeClr val="dk1"/>
                </a:solidFill>
              </a:rPr>
              <a:t>Binary all: 0.058 (Dice), 0.030 (IoU)</a:t>
            </a:r>
            <a:endParaRPr sz="1700">
              <a:solidFill>
                <a:schemeClr val="dk1"/>
              </a:solidFill>
            </a:endParaRPr>
          </a:p>
          <a:p>
            <a:pPr indent="-336550" lvl="1" marL="914400" marR="0" rtl="0" algn="l">
              <a:spcBef>
                <a:spcPts val="0"/>
              </a:spcBef>
              <a:spcAft>
                <a:spcPts val="0"/>
              </a:spcAft>
              <a:buClr>
                <a:schemeClr val="dk1"/>
              </a:buClr>
              <a:buSzPts val="1700"/>
              <a:buChar char="○"/>
            </a:pPr>
            <a:r>
              <a:rPr lang="en-SG" sz="1700">
                <a:solidFill>
                  <a:schemeClr val="dk1"/>
                </a:solidFill>
              </a:rPr>
              <a:t>Multiclass all: 0.043 (Dice), 0.024 (IoU)</a:t>
            </a:r>
            <a:endParaRPr sz="1700">
              <a:solidFill>
                <a:schemeClr val="dk1"/>
              </a:solidFill>
            </a:endParaRPr>
          </a:p>
          <a:p>
            <a:pPr indent="0" lvl="0" marL="457200" marR="0" rtl="0" algn="l">
              <a:spcBef>
                <a:spcPts val="0"/>
              </a:spcBef>
              <a:spcAft>
                <a:spcPts val="0"/>
              </a:spcAft>
              <a:buNone/>
            </a:pPr>
            <a:r>
              <a:t/>
            </a:r>
            <a:endParaRPr sz="1700">
              <a:solidFill>
                <a:schemeClr val="dk1"/>
              </a:solidFill>
            </a:endParaRPr>
          </a:p>
          <a:p>
            <a:pPr indent="-279400" lvl="0" marL="285750" marR="0" rtl="0" algn="l">
              <a:spcBef>
                <a:spcPts val="0"/>
              </a:spcBef>
              <a:spcAft>
                <a:spcPts val="0"/>
              </a:spcAft>
              <a:buClr>
                <a:schemeClr val="dk1"/>
              </a:buClr>
              <a:buSzPts val="1700"/>
              <a:buChar char="•"/>
            </a:pPr>
            <a:r>
              <a:rPr lang="en-SG" sz="1700">
                <a:solidFill>
                  <a:schemeClr val="dk1"/>
                </a:solidFill>
              </a:rPr>
              <a:t>Semi-Supervised Hybrid</a:t>
            </a:r>
            <a:endParaRPr sz="1700">
              <a:solidFill>
                <a:schemeClr val="dk1"/>
              </a:solidFill>
            </a:endParaRPr>
          </a:p>
          <a:p>
            <a:pPr indent="-336550" lvl="1" marL="914400" marR="0" rtl="0" algn="l">
              <a:spcBef>
                <a:spcPts val="0"/>
              </a:spcBef>
              <a:spcAft>
                <a:spcPts val="0"/>
              </a:spcAft>
              <a:buClr>
                <a:schemeClr val="dk1"/>
              </a:buClr>
              <a:buSzPts val="1700"/>
              <a:buChar char="○"/>
            </a:pPr>
            <a:r>
              <a:rPr lang="en-SG" sz="1700">
                <a:solidFill>
                  <a:schemeClr val="dk1"/>
                </a:solidFill>
              </a:rPr>
              <a:t>Binary all: 0.842 (Dice), 0.732 (IOU)</a:t>
            </a:r>
            <a:endParaRPr sz="1700">
              <a:solidFill>
                <a:schemeClr val="dk1"/>
              </a:solidFill>
            </a:endParaRPr>
          </a:p>
          <a:p>
            <a:pPr indent="-336550" lvl="1" marL="914400" marR="0" rtl="0" algn="l">
              <a:spcBef>
                <a:spcPts val="0"/>
              </a:spcBef>
              <a:spcAft>
                <a:spcPts val="0"/>
              </a:spcAft>
              <a:buClr>
                <a:schemeClr val="dk1"/>
              </a:buClr>
              <a:buSzPts val="1700"/>
              <a:buChar char="○"/>
            </a:pPr>
            <a:r>
              <a:rPr lang="en-SG" sz="1700">
                <a:solidFill>
                  <a:schemeClr val="dk1"/>
                </a:solidFill>
              </a:rPr>
              <a:t>Multiclass all: 0.274 (Dice), 0.179(IOU)</a:t>
            </a:r>
            <a:endParaRPr sz="1700">
              <a:solidFill>
                <a:schemeClr val="dk1"/>
              </a:solidFill>
            </a:endParaRPr>
          </a:p>
        </p:txBody>
      </p:sp>
      <p:pic>
        <p:nvPicPr>
          <p:cNvPr id="294" name="Google Shape;294;p31" title="Screenshot 2026-02-11 at 3.08.52 AM.png"/>
          <p:cNvPicPr preferRelativeResize="0"/>
          <p:nvPr/>
        </p:nvPicPr>
        <p:blipFill>
          <a:blip r:embed="rId4">
            <a:alphaModFix/>
          </a:blip>
          <a:stretch>
            <a:fillRect/>
          </a:stretch>
        </p:blipFill>
        <p:spPr>
          <a:xfrm>
            <a:off x="7541200" y="92675"/>
            <a:ext cx="4486049" cy="3542263"/>
          </a:xfrm>
          <a:prstGeom prst="rect">
            <a:avLst/>
          </a:prstGeom>
          <a:noFill/>
          <a:ln>
            <a:noFill/>
          </a:ln>
        </p:spPr>
      </p:pic>
      <p:pic>
        <p:nvPicPr>
          <p:cNvPr id="295" name="Google Shape;295;p31" title="Screenshot 2026-02-11 at 3.09.39 AM.png"/>
          <p:cNvPicPr preferRelativeResize="0"/>
          <p:nvPr/>
        </p:nvPicPr>
        <p:blipFill>
          <a:blip r:embed="rId5">
            <a:alphaModFix/>
          </a:blip>
          <a:stretch>
            <a:fillRect/>
          </a:stretch>
        </p:blipFill>
        <p:spPr>
          <a:xfrm>
            <a:off x="7872250" y="3634950"/>
            <a:ext cx="3989900" cy="3167124"/>
          </a:xfrm>
          <a:prstGeom prst="rect">
            <a:avLst/>
          </a:prstGeom>
          <a:noFill/>
          <a:ln>
            <a:noFill/>
          </a:ln>
        </p:spPr>
      </p:pic>
      <p:pic>
        <p:nvPicPr>
          <p:cNvPr id="296" name="Google Shape;296;p31"/>
          <p:cNvPicPr preferRelativeResize="0"/>
          <p:nvPr/>
        </p:nvPicPr>
        <p:blipFill>
          <a:blip r:embed="rId3">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1" name="Shape 301"/>
        <p:cNvGrpSpPr/>
        <p:nvPr/>
      </p:nvGrpSpPr>
      <p:grpSpPr>
        <a:xfrm>
          <a:off x="0" y="0"/>
          <a:ext cx="0" cy="0"/>
          <a:chOff x="0" y="0"/>
          <a:chExt cx="0" cy="0"/>
        </a:xfrm>
      </p:grpSpPr>
      <p:sp>
        <p:nvSpPr>
          <p:cNvPr id="302" name="Google Shape;302;p32"/>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303" name="Google Shape;303;p32"/>
          <p:cNvSpPr txBox="1"/>
          <p:nvPr/>
        </p:nvSpPr>
        <p:spPr>
          <a:xfrm>
            <a:off x="793376" y="632012"/>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Results</a:t>
            </a:r>
            <a:endParaRPr/>
          </a:p>
        </p:txBody>
      </p:sp>
      <p:sp>
        <p:nvSpPr>
          <p:cNvPr id="304" name="Google Shape;304;p32"/>
          <p:cNvSpPr txBox="1"/>
          <p:nvPr/>
        </p:nvSpPr>
        <p:spPr>
          <a:xfrm>
            <a:off x="1046875" y="1858950"/>
            <a:ext cx="5557500" cy="31401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Char char="•"/>
            </a:pPr>
            <a:r>
              <a:rPr lang="en-SG" sz="1800">
                <a:solidFill>
                  <a:schemeClr val="dk1"/>
                </a:solidFill>
              </a:rPr>
              <a:t>Fully Supervised (highest overall performance)</a:t>
            </a:r>
            <a:endParaRPr sz="1800">
              <a:solidFill>
                <a:schemeClr val="dk1"/>
              </a:solidFill>
            </a:endParaRPr>
          </a:p>
          <a:p>
            <a:pPr indent="-342900" lvl="1" marL="914400" marR="0" rtl="0" algn="l">
              <a:spcBef>
                <a:spcPts val="0"/>
              </a:spcBef>
              <a:spcAft>
                <a:spcPts val="0"/>
              </a:spcAft>
              <a:buClr>
                <a:schemeClr val="dk1"/>
              </a:buClr>
              <a:buSzPts val="1800"/>
              <a:buChar char="○"/>
            </a:pPr>
            <a:r>
              <a:rPr lang="en-SG" sz="1800">
                <a:solidFill>
                  <a:schemeClr val="dk1"/>
                </a:solidFill>
              </a:rPr>
              <a:t>Binary Ablation: 0.725 at N=5 → 0.854 at N=93 (17.8% increase)</a:t>
            </a:r>
            <a:endParaRPr sz="1800">
              <a:solidFill>
                <a:schemeClr val="dk1"/>
              </a:solidFill>
            </a:endParaRPr>
          </a:p>
          <a:p>
            <a:pPr indent="-342900" lvl="1" marL="914400" marR="0" rtl="0" algn="l">
              <a:spcBef>
                <a:spcPts val="0"/>
              </a:spcBef>
              <a:spcAft>
                <a:spcPts val="0"/>
              </a:spcAft>
              <a:buClr>
                <a:schemeClr val="dk1"/>
              </a:buClr>
              <a:buSzPts val="1800"/>
              <a:buChar char="○"/>
            </a:pPr>
            <a:r>
              <a:rPr lang="en-SG" sz="1800">
                <a:solidFill>
                  <a:schemeClr val="dk1"/>
                </a:solidFill>
              </a:rPr>
              <a:t>Multiclass Ablation: 0.224 at N=5 → 0.544 at N=93 (143% increase)</a:t>
            </a:r>
            <a:endParaRPr sz="1800">
              <a:solidFill>
                <a:schemeClr val="dk1"/>
              </a:solidFill>
            </a:endParaRPr>
          </a:p>
          <a:p>
            <a:pPr indent="0" lvl="0" marL="457200" marR="0" rtl="0" algn="l">
              <a:spcBef>
                <a:spcPts val="0"/>
              </a:spcBef>
              <a:spcAft>
                <a:spcPts val="0"/>
              </a:spcAft>
              <a:buNone/>
            </a:pPr>
            <a:r>
              <a:t/>
            </a:r>
            <a:endParaRPr sz="1800">
              <a:solidFill>
                <a:schemeClr val="dk1"/>
              </a:solidFill>
            </a:endParaRPr>
          </a:p>
          <a:p>
            <a:pPr indent="-285750" lvl="0" marL="285750" marR="0" rtl="0" algn="l">
              <a:spcBef>
                <a:spcPts val="0"/>
              </a:spcBef>
              <a:spcAft>
                <a:spcPts val="0"/>
              </a:spcAft>
              <a:buClr>
                <a:schemeClr val="dk1"/>
              </a:buClr>
              <a:buSzPts val="1800"/>
              <a:buChar char="•"/>
            </a:pPr>
            <a:r>
              <a:rPr lang="en-SG" sz="1800">
                <a:solidFill>
                  <a:schemeClr val="dk1"/>
                </a:solidFill>
              </a:rPr>
              <a:t>Semi-Supervised Hybrid</a:t>
            </a:r>
            <a:endParaRPr sz="1800">
              <a:solidFill>
                <a:schemeClr val="dk1"/>
              </a:solidFill>
            </a:endParaRPr>
          </a:p>
          <a:p>
            <a:pPr indent="-342900" lvl="1" marL="914400" marR="0" rtl="0" algn="l">
              <a:spcBef>
                <a:spcPts val="0"/>
              </a:spcBef>
              <a:spcAft>
                <a:spcPts val="0"/>
              </a:spcAft>
              <a:buClr>
                <a:schemeClr val="dk1"/>
              </a:buClr>
              <a:buSzPts val="1800"/>
              <a:buChar char="○"/>
            </a:pPr>
            <a:r>
              <a:rPr lang="en-SG" sz="1800">
                <a:solidFill>
                  <a:schemeClr val="dk1"/>
                </a:solidFill>
              </a:rPr>
              <a:t>Binary Ablation: 0.464 at N=5 → 0.842 at N=93; approached FS at N=50</a:t>
            </a:r>
            <a:endParaRPr sz="1800">
              <a:solidFill>
                <a:schemeClr val="dk1"/>
              </a:solidFill>
            </a:endParaRPr>
          </a:p>
          <a:p>
            <a:pPr indent="-342900" lvl="1" marL="914400" marR="0" rtl="0" algn="l">
              <a:spcBef>
                <a:spcPts val="0"/>
              </a:spcBef>
              <a:spcAft>
                <a:spcPts val="0"/>
              </a:spcAft>
              <a:buClr>
                <a:schemeClr val="dk1"/>
              </a:buClr>
              <a:buSzPts val="1800"/>
              <a:buChar char="○"/>
            </a:pPr>
            <a:r>
              <a:rPr lang="en-SG" sz="1800">
                <a:solidFill>
                  <a:schemeClr val="dk1"/>
                </a:solidFill>
              </a:rPr>
              <a:t>Multiclass Ablation: 0.010 at N=5 → 0.274 at N=93 (50.4% of FS)</a:t>
            </a:r>
            <a:endParaRPr sz="1800">
              <a:solidFill>
                <a:schemeClr val="dk1"/>
              </a:solidFill>
            </a:endParaRPr>
          </a:p>
        </p:txBody>
      </p:sp>
      <p:pic>
        <p:nvPicPr>
          <p:cNvPr id="305" name="Google Shape;305;p32" title="Screenshot 2026-02-11 at 3.06.22 AM.png"/>
          <p:cNvPicPr preferRelativeResize="0"/>
          <p:nvPr/>
        </p:nvPicPr>
        <p:blipFill>
          <a:blip r:embed="rId3">
            <a:alphaModFix/>
          </a:blip>
          <a:stretch>
            <a:fillRect/>
          </a:stretch>
        </p:blipFill>
        <p:spPr>
          <a:xfrm>
            <a:off x="7212300" y="1605513"/>
            <a:ext cx="4376375" cy="3646975"/>
          </a:xfrm>
          <a:prstGeom prst="rect">
            <a:avLst/>
          </a:prstGeom>
          <a:noFill/>
          <a:ln>
            <a:noFill/>
          </a:ln>
        </p:spPr>
      </p:pic>
      <p:pic>
        <p:nvPicPr>
          <p:cNvPr id="306" name="Google Shape;306;p32"/>
          <p:cNvPicPr preferRelativeResize="0"/>
          <p:nvPr/>
        </p:nvPicPr>
        <p:blipFill>
          <a:blip r:embed="rId4">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1" name="Shape 311"/>
        <p:cNvGrpSpPr/>
        <p:nvPr/>
      </p:nvGrpSpPr>
      <p:grpSpPr>
        <a:xfrm>
          <a:off x="0" y="0"/>
          <a:ext cx="0" cy="0"/>
          <a:chOff x="0" y="0"/>
          <a:chExt cx="0" cy="0"/>
        </a:xfrm>
      </p:grpSpPr>
      <p:sp>
        <p:nvSpPr>
          <p:cNvPr id="312" name="Google Shape;312;p33"/>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pic>
        <p:nvPicPr>
          <p:cNvPr id="313" name="Google Shape;313;p33"/>
          <p:cNvPicPr preferRelativeResize="0"/>
          <p:nvPr/>
        </p:nvPicPr>
        <p:blipFill>
          <a:blip r:embed="rId3">
            <a:alphaModFix/>
          </a:blip>
          <a:stretch>
            <a:fillRect/>
          </a:stretch>
        </p:blipFill>
        <p:spPr>
          <a:xfrm>
            <a:off x="1306097" y="6135025"/>
            <a:ext cx="1634929" cy="304650"/>
          </a:xfrm>
          <a:prstGeom prst="rect">
            <a:avLst/>
          </a:prstGeom>
          <a:noFill/>
          <a:ln>
            <a:noFill/>
          </a:ln>
        </p:spPr>
      </p:pic>
      <p:sp>
        <p:nvSpPr>
          <p:cNvPr id="314" name="Google Shape;314;p33"/>
          <p:cNvSpPr txBox="1"/>
          <p:nvPr/>
        </p:nvSpPr>
        <p:spPr>
          <a:xfrm>
            <a:off x="793376" y="458787"/>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Results</a:t>
            </a:r>
            <a:endParaRPr/>
          </a:p>
        </p:txBody>
      </p:sp>
      <p:pic>
        <p:nvPicPr>
          <p:cNvPr id="315" name="Google Shape;315;p33" title="Screenshot 2026-02-11 at 3.13.44 AM.png"/>
          <p:cNvPicPr preferRelativeResize="0"/>
          <p:nvPr/>
        </p:nvPicPr>
        <p:blipFill>
          <a:blip r:embed="rId4">
            <a:alphaModFix/>
          </a:blip>
          <a:stretch>
            <a:fillRect/>
          </a:stretch>
        </p:blipFill>
        <p:spPr>
          <a:xfrm>
            <a:off x="538825" y="902050"/>
            <a:ext cx="7962274" cy="3027575"/>
          </a:xfrm>
          <a:prstGeom prst="rect">
            <a:avLst/>
          </a:prstGeom>
          <a:noFill/>
          <a:ln>
            <a:noFill/>
          </a:ln>
        </p:spPr>
      </p:pic>
      <p:pic>
        <p:nvPicPr>
          <p:cNvPr id="316" name="Google Shape;316;p33" title="Screenshot 2026-02-11 at 3.14.16 AM.png"/>
          <p:cNvPicPr preferRelativeResize="0"/>
          <p:nvPr/>
        </p:nvPicPr>
        <p:blipFill>
          <a:blip r:embed="rId5">
            <a:alphaModFix/>
          </a:blip>
          <a:stretch>
            <a:fillRect/>
          </a:stretch>
        </p:blipFill>
        <p:spPr>
          <a:xfrm>
            <a:off x="4981100" y="3929625"/>
            <a:ext cx="6923586" cy="2623575"/>
          </a:xfrm>
          <a:prstGeom prst="rect">
            <a:avLst/>
          </a:prstGeom>
          <a:noFill/>
          <a:ln>
            <a:noFill/>
          </a:ln>
        </p:spPr>
      </p:pic>
      <p:pic>
        <p:nvPicPr>
          <p:cNvPr id="317" name="Google Shape;317;p33"/>
          <p:cNvPicPr preferRelativeResize="0"/>
          <p:nvPr/>
        </p:nvPicPr>
        <p:blipFill>
          <a:blip r:embed="rId3">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sp>
        <p:nvSpPr>
          <p:cNvPr id="323" name="Google Shape;323;p34"/>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324" name="Google Shape;324;p34"/>
          <p:cNvSpPr txBox="1"/>
          <p:nvPr/>
        </p:nvSpPr>
        <p:spPr>
          <a:xfrm>
            <a:off x="793389" y="615312"/>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Discussion</a:t>
            </a:r>
            <a:endParaRPr/>
          </a:p>
        </p:txBody>
      </p:sp>
      <p:sp>
        <p:nvSpPr>
          <p:cNvPr id="325" name="Google Shape;325;p34"/>
          <p:cNvSpPr txBox="1"/>
          <p:nvPr/>
        </p:nvSpPr>
        <p:spPr>
          <a:xfrm>
            <a:off x="934324" y="1298450"/>
            <a:ext cx="10025100" cy="2185800"/>
          </a:xfrm>
          <a:prstGeom prst="rect">
            <a:avLst/>
          </a:prstGeom>
          <a:noFill/>
          <a:ln>
            <a:noFill/>
          </a:ln>
        </p:spPr>
        <p:txBody>
          <a:bodyPr anchorCtr="0" anchor="t" bIns="45700" lIns="91425" spcFirstLastPara="1" rIns="91425" wrap="square" tIns="45700">
            <a:spAutoFit/>
          </a:bodyPr>
          <a:lstStyle/>
          <a:p>
            <a:pPr indent="-330200" lvl="0" marL="457200" rtl="0" algn="l">
              <a:lnSpc>
                <a:spcPct val="150000"/>
              </a:lnSpc>
              <a:spcBef>
                <a:spcPts val="0"/>
              </a:spcBef>
              <a:spcAft>
                <a:spcPts val="0"/>
              </a:spcAft>
              <a:buClr>
                <a:schemeClr val="dk1"/>
              </a:buClr>
              <a:buSzPts val="1600"/>
              <a:buAutoNum type="arabicPeriod"/>
            </a:pPr>
            <a:r>
              <a:rPr lang="en-SG" sz="1600">
                <a:solidFill>
                  <a:schemeClr val="dk1"/>
                </a:solidFill>
              </a:rPr>
              <a:t>Unpaired CycleGAN failed to produce usable segmentations for either task; semi supervised hybrid improved substantially over unpaired baselines.</a:t>
            </a:r>
            <a:endParaRPr sz="1600">
              <a:solidFill>
                <a:schemeClr val="dk1"/>
              </a:solidFill>
            </a:endParaRPr>
          </a:p>
          <a:p>
            <a:pPr indent="-330200" lvl="0" marL="457200" rtl="0" algn="l">
              <a:lnSpc>
                <a:spcPct val="150000"/>
              </a:lnSpc>
              <a:spcBef>
                <a:spcPts val="0"/>
              </a:spcBef>
              <a:spcAft>
                <a:spcPts val="0"/>
              </a:spcAft>
              <a:buClr>
                <a:schemeClr val="dk1"/>
              </a:buClr>
              <a:buSzPts val="1600"/>
              <a:buAutoNum type="arabicPeriod"/>
            </a:pPr>
            <a:r>
              <a:rPr lang="en-SG" sz="1600">
                <a:solidFill>
                  <a:schemeClr val="dk1"/>
                </a:solidFill>
              </a:rPr>
              <a:t>Binary kidney segmentation (Dice &gt; 0.70) is achievable with 25-50 paired samples using either FS or SS, while multiclass requires maximum available annotation.</a:t>
            </a:r>
            <a:endParaRPr sz="1600">
              <a:solidFill>
                <a:schemeClr val="dk1"/>
              </a:solidFill>
            </a:endParaRPr>
          </a:p>
          <a:p>
            <a:pPr indent="-330200" lvl="0" marL="457200" rtl="0" algn="l">
              <a:lnSpc>
                <a:spcPct val="150000"/>
              </a:lnSpc>
              <a:spcBef>
                <a:spcPts val="0"/>
              </a:spcBef>
              <a:spcAft>
                <a:spcPts val="0"/>
              </a:spcAft>
              <a:buClr>
                <a:schemeClr val="dk1"/>
              </a:buClr>
              <a:buSzPts val="1600"/>
              <a:buAutoNum type="arabicPeriod"/>
            </a:pPr>
            <a:r>
              <a:rPr lang="en-SG" sz="1600">
                <a:solidFill>
                  <a:schemeClr val="dk1"/>
                </a:solidFill>
              </a:rPr>
              <a:t>Smaller anatomical structures require more annotations to achieve stable performance according to per-class ablation results.</a:t>
            </a:r>
            <a:endParaRPr sz="1600">
              <a:solidFill>
                <a:schemeClr val="dk1"/>
              </a:solidFill>
            </a:endParaRPr>
          </a:p>
        </p:txBody>
      </p:sp>
      <p:sp>
        <p:nvSpPr>
          <p:cNvPr id="326" name="Google Shape;326;p34"/>
          <p:cNvSpPr txBox="1"/>
          <p:nvPr/>
        </p:nvSpPr>
        <p:spPr>
          <a:xfrm>
            <a:off x="793389" y="4025075"/>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Limitations </a:t>
            </a:r>
            <a:endParaRPr/>
          </a:p>
        </p:txBody>
      </p:sp>
      <p:sp>
        <p:nvSpPr>
          <p:cNvPr id="327" name="Google Shape;327;p34"/>
          <p:cNvSpPr txBox="1"/>
          <p:nvPr/>
        </p:nvSpPr>
        <p:spPr>
          <a:xfrm>
            <a:off x="934324" y="4696800"/>
            <a:ext cx="10025100" cy="1154400"/>
          </a:xfrm>
          <a:prstGeom prst="rect">
            <a:avLst/>
          </a:prstGeom>
          <a:noFill/>
          <a:ln>
            <a:noFill/>
          </a:ln>
        </p:spPr>
        <p:txBody>
          <a:bodyPr anchorCtr="0" anchor="t" bIns="45700" lIns="91425" spcFirstLastPara="1" rIns="91425" wrap="square" tIns="45700">
            <a:spAutoFit/>
          </a:bodyPr>
          <a:lstStyle/>
          <a:p>
            <a:pPr indent="-330200" lvl="0" marL="457200" rtl="0" algn="l">
              <a:lnSpc>
                <a:spcPct val="150000"/>
              </a:lnSpc>
              <a:spcBef>
                <a:spcPts val="0"/>
              </a:spcBef>
              <a:spcAft>
                <a:spcPts val="0"/>
              </a:spcAft>
              <a:buClr>
                <a:schemeClr val="dk1"/>
              </a:buClr>
              <a:buSzPts val="1600"/>
              <a:buAutoNum type="arabicPeriod"/>
            </a:pPr>
            <a:r>
              <a:rPr lang="en-SG" sz="1600">
                <a:solidFill>
                  <a:schemeClr val="dk1"/>
                </a:solidFill>
              </a:rPr>
              <a:t>A single dataset limited to the kidney anatomy was used, and inter-rater variability between the two annotating sonographers was not evaluated</a:t>
            </a:r>
            <a:r>
              <a:rPr lang="en-SG" sz="1800">
                <a:solidFill>
                  <a:schemeClr val="dk1"/>
                </a:solidFill>
              </a:rPr>
              <a:t>.</a:t>
            </a:r>
            <a:endParaRPr sz="1600">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SG" sz="1600">
                <a:solidFill>
                  <a:schemeClr val="dk1"/>
                </a:solidFill>
              </a:rPr>
              <a:t>Semi supervised formulation could explore alternatives like consistency regularization.</a:t>
            </a:r>
            <a:endParaRPr sz="1800">
              <a:solidFill>
                <a:schemeClr val="dk1"/>
              </a:solidFill>
            </a:endParaRPr>
          </a:p>
        </p:txBody>
      </p:sp>
      <p:pic>
        <p:nvPicPr>
          <p:cNvPr id="328" name="Google Shape;328;p34"/>
          <p:cNvPicPr preferRelativeResize="0"/>
          <p:nvPr/>
        </p:nvPicPr>
        <p:blipFill>
          <a:blip r:embed="rId3">
            <a:alphaModFix/>
          </a:blip>
          <a:stretch>
            <a:fillRect/>
          </a:stretch>
        </p:blipFill>
        <p:spPr>
          <a:xfrm>
            <a:off x="1306097" y="6135025"/>
            <a:ext cx="1634929" cy="304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5"/>
          <p:cNvSpPr txBox="1"/>
          <p:nvPr/>
        </p:nvSpPr>
        <p:spPr>
          <a:xfrm>
            <a:off x="780325" y="1232200"/>
            <a:ext cx="7368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Conclusion</a:t>
            </a:r>
            <a:endParaRPr/>
          </a:p>
        </p:txBody>
      </p:sp>
      <p:sp>
        <p:nvSpPr>
          <p:cNvPr id="334" name="Google Shape;334;p35"/>
          <p:cNvSpPr txBox="1"/>
          <p:nvPr/>
        </p:nvSpPr>
        <p:spPr>
          <a:xfrm>
            <a:off x="1964225" y="2593150"/>
            <a:ext cx="8894400" cy="585000"/>
          </a:xfrm>
          <a:prstGeom prst="rect">
            <a:avLst/>
          </a:prstGeom>
          <a:noFill/>
          <a:ln>
            <a:noFill/>
          </a:ln>
        </p:spPr>
        <p:txBody>
          <a:bodyPr anchorCtr="0" anchor="t" bIns="45700" lIns="91425" spcFirstLastPara="1" rIns="91425" wrap="square" tIns="45700">
            <a:spAutoFit/>
          </a:bodyPr>
          <a:lstStyle/>
          <a:p>
            <a:pPr indent="-273050" lvl="0" marL="285750" marR="0" rtl="0" algn="l">
              <a:spcBef>
                <a:spcPts val="0"/>
              </a:spcBef>
              <a:spcAft>
                <a:spcPts val="0"/>
              </a:spcAft>
              <a:buClr>
                <a:schemeClr val="dk1"/>
              </a:buClr>
              <a:buSzPts val="1600"/>
              <a:buFont typeface="Arial"/>
              <a:buChar char="•"/>
            </a:pPr>
            <a:r>
              <a:rPr lang="en-SG" sz="1600"/>
              <a:t>We suggest using paired datasets for ultrasound simplification whenever possible</a:t>
            </a:r>
            <a:endParaRPr sz="1600"/>
          </a:p>
          <a:p>
            <a:pPr indent="-273050" lvl="0" marL="285750" marR="0" rtl="0" algn="l">
              <a:spcBef>
                <a:spcPts val="0"/>
              </a:spcBef>
              <a:spcAft>
                <a:spcPts val="0"/>
              </a:spcAft>
              <a:buClr>
                <a:schemeClr val="dk1"/>
              </a:buClr>
              <a:buSzPts val="1600"/>
              <a:buFont typeface="Arial"/>
              <a:buChar char="•"/>
            </a:pPr>
            <a:r>
              <a:rPr lang="en-SG" sz="1600"/>
              <a:t>The paired dataset can be collected using tracked ultrasound</a:t>
            </a:r>
            <a:r>
              <a:rPr baseline="30000" lang="en-SG" sz="1600"/>
              <a:t>6</a:t>
            </a:r>
            <a:endParaRPr baseline="30000" sz="1600"/>
          </a:p>
        </p:txBody>
      </p:sp>
      <p:pic>
        <p:nvPicPr>
          <p:cNvPr id="335" name="Google Shape;335;p35"/>
          <p:cNvPicPr preferRelativeResize="0"/>
          <p:nvPr/>
        </p:nvPicPr>
        <p:blipFill>
          <a:blip r:embed="rId3">
            <a:alphaModFix/>
          </a:blip>
          <a:stretch>
            <a:fillRect/>
          </a:stretch>
        </p:blipFill>
        <p:spPr>
          <a:xfrm>
            <a:off x="1306097" y="6135025"/>
            <a:ext cx="1634929" cy="304650"/>
          </a:xfrm>
          <a:prstGeom prst="rect">
            <a:avLst/>
          </a:prstGeom>
          <a:noFill/>
          <a:ln>
            <a:noFill/>
          </a:ln>
        </p:spPr>
      </p:pic>
      <p:sp>
        <p:nvSpPr>
          <p:cNvPr id="336" name="Google Shape;336;p35"/>
          <p:cNvSpPr txBox="1"/>
          <p:nvPr/>
        </p:nvSpPr>
        <p:spPr>
          <a:xfrm>
            <a:off x="1878150" y="5354875"/>
            <a:ext cx="8435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SG" sz="1000">
                <a:solidFill>
                  <a:schemeClr val="dk1"/>
                </a:solidFill>
                <a:latin typeface="Calibri"/>
                <a:ea typeface="Calibri"/>
                <a:cs typeface="Calibri"/>
                <a:sym typeface="Calibri"/>
              </a:rPr>
              <a:t>6. China, D., et al “Automated labeling using tracked ultrasound imaging: Application in tracking vertebrae during spine surgery,” Medical image analysis (2025).</a:t>
            </a:r>
            <a:endParaRPr sz="10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1" name="Shape 341"/>
        <p:cNvGrpSpPr/>
        <p:nvPr/>
      </p:nvGrpSpPr>
      <p:grpSpPr>
        <a:xfrm>
          <a:off x="0" y="0"/>
          <a:ext cx="0" cy="0"/>
          <a:chOff x="0" y="0"/>
          <a:chExt cx="0" cy="0"/>
        </a:xfrm>
      </p:grpSpPr>
      <p:sp>
        <p:nvSpPr>
          <p:cNvPr id="342" name="Google Shape;342;p36"/>
          <p:cNvSpPr txBox="1"/>
          <p:nvPr/>
        </p:nvSpPr>
        <p:spPr>
          <a:xfrm>
            <a:off x="8280741" y="6439667"/>
            <a:ext cx="0" cy="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2400" u="none" cap="none" strike="noStrike">
              <a:solidFill>
                <a:schemeClr val="dk1"/>
              </a:solidFill>
              <a:latin typeface="Arial"/>
              <a:ea typeface="Arial"/>
              <a:cs typeface="Arial"/>
              <a:sym typeface="Arial"/>
            </a:endParaRPr>
          </a:p>
        </p:txBody>
      </p:sp>
      <p:pic>
        <p:nvPicPr>
          <p:cNvPr id="343" name="Google Shape;343;p36" title="IMG_7301.JPG"/>
          <p:cNvPicPr preferRelativeResize="0"/>
          <p:nvPr/>
        </p:nvPicPr>
        <p:blipFill>
          <a:blip r:embed="rId3">
            <a:alphaModFix/>
          </a:blip>
          <a:stretch>
            <a:fillRect/>
          </a:stretch>
        </p:blipFill>
        <p:spPr>
          <a:xfrm>
            <a:off x="10006900" y="844200"/>
            <a:ext cx="1826600" cy="1826600"/>
          </a:xfrm>
          <a:prstGeom prst="rect">
            <a:avLst/>
          </a:prstGeom>
          <a:noFill/>
          <a:ln>
            <a:noFill/>
          </a:ln>
        </p:spPr>
      </p:pic>
      <p:sp>
        <p:nvSpPr>
          <p:cNvPr id="344" name="Google Shape;344;p36"/>
          <p:cNvSpPr txBox="1"/>
          <p:nvPr/>
        </p:nvSpPr>
        <p:spPr>
          <a:xfrm>
            <a:off x="10366700" y="382500"/>
            <a:ext cx="1107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SG" sz="1800">
                <a:solidFill>
                  <a:schemeClr val="dk1"/>
                </a:solidFill>
                <a:latin typeface="Calibri"/>
                <a:ea typeface="Calibri"/>
                <a:cs typeface="Calibri"/>
                <a:sym typeface="Calibri"/>
              </a:rPr>
              <a:t>LinkedIn</a:t>
            </a:r>
            <a:r>
              <a:rPr lang="en-SG"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345" name="Google Shape;345;p36"/>
          <p:cNvSpPr txBox="1"/>
          <p:nvPr/>
        </p:nvSpPr>
        <p:spPr>
          <a:xfrm>
            <a:off x="793375" y="1417500"/>
            <a:ext cx="9145200" cy="160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SG" sz="1600">
                <a:solidFill>
                  <a:schemeClr val="dk1"/>
                </a:solidFill>
              </a:rPr>
              <a:t>This work was supported by;</a:t>
            </a:r>
            <a:endParaRPr sz="1600">
              <a:solidFill>
                <a:schemeClr val="dk1"/>
              </a:solidFill>
            </a:endParaRPr>
          </a:p>
          <a:p>
            <a:pPr indent="-330200" lvl="0" marL="457200" marR="0" rtl="0" algn="l">
              <a:spcBef>
                <a:spcPts val="0"/>
              </a:spcBef>
              <a:spcAft>
                <a:spcPts val="0"/>
              </a:spcAft>
              <a:buClr>
                <a:schemeClr val="dk1"/>
              </a:buClr>
              <a:buSzPts val="1600"/>
              <a:buChar char="●"/>
            </a:pPr>
            <a:r>
              <a:rPr lang="en-SG" sz="1600">
                <a:solidFill>
                  <a:schemeClr val="dk1"/>
                </a:solidFill>
              </a:rPr>
              <a:t> The Natural Sciences and Engineering Research Council of Canada grant RGPIN-2020-05582.</a:t>
            </a:r>
            <a:endParaRPr sz="1600">
              <a:solidFill>
                <a:schemeClr val="dk1"/>
              </a:solidFill>
            </a:endParaRPr>
          </a:p>
          <a:p>
            <a:pPr indent="-330200" lvl="0" marL="457200" marR="0" rtl="0" algn="l">
              <a:spcBef>
                <a:spcPts val="0"/>
              </a:spcBef>
              <a:spcAft>
                <a:spcPts val="0"/>
              </a:spcAft>
              <a:buClr>
                <a:schemeClr val="dk1"/>
              </a:buClr>
              <a:buSzPts val="1600"/>
              <a:buChar char="●"/>
            </a:pPr>
            <a:r>
              <a:rPr lang="en-SG" sz="1600">
                <a:solidFill>
                  <a:schemeClr val="dk1"/>
                </a:solidFill>
              </a:rPr>
              <a:t>Black and Indigenous Summer Research Internship (BISRI) program at Carleton University.</a:t>
            </a:r>
            <a:endParaRPr sz="1600">
              <a:solidFill>
                <a:schemeClr val="dk1"/>
              </a:solidFill>
            </a:endParaRPr>
          </a:p>
          <a:p>
            <a:pPr indent="-330200" lvl="0" marL="457200" marR="0" rtl="0" algn="l">
              <a:spcBef>
                <a:spcPts val="0"/>
              </a:spcBef>
              <a:spcAft>
                <a:spcPts val="0"/>
              </a:spcAft>
              <a:buClr>
                <a:schemeClr val="dk1"/>
              </a:buClr>
              <a:buSzPts val="1600"/>
              <a:buChar char="●"/>
            </a:pPr>
            <a:r>
              <a:rPr lang="en-SG" sz="1600">
                <a:solidFill>
                  <a:schemeClr val="dk1"/>
                </a:solidFill>
              </a:rPr>
              <a:t>Compute Ontario and the Digital Research Alliance of Canada.</a:t>
            </a:r>
            <a:endParaRPr sz="1600">
              <a:solidFill>
                <a:schemeClr val="dk1"/>
              </a:solidFill>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346" name="Google Shape;346;p36"/>
          <p:cNvSpPr txBox="1"/>
          <p:nvPr/>
        </p:nvSpPr>
        <p:spPr>
          <a:xfrm>
            <a:off x="793376" y="632012"/>
            <a:ext cx="6064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SG" sz="2800">
                <a:solidFill>
                  <a:schemeClr val="dk1"/>
                </a:solidFill>
                <a:latin typeface="Calibri"/>
                <a:ea typeface="Calibri"/>
                <a:cs typeface="Calibri"/>
                <a:sym typeface="Calibri"/>
              </a:rPr>
              <a:t>Acknowledgements </a:t>
            </a:r>
            <a:endParaRPr/>
          </a:p>
        </p:txBody>
      </p:sp>
      <p:sp>
        <p:nvSpPr>
          <p:cNvPr id="347" name="Google Shape;347;p36"/>
          <p:cNvSpPr txBox="1"/>
          <p:nvPr/>
        </p:nvSpPr>
        <p:spPr>
          <a:xfrm>
            <a:off x="2253450" y="3067350"/>
            <a:ext cx="76851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SG" sz="3500">
                <a:solidFill>
                  <a:schemeClr val="dk1"/>
                </a:solidFill>
              </a:rPr>
              <a:t>THANK YOU</a:t>
            </a:r>
            <a:endParaRPr sz="3500">
              <a:solidFill>
                <a:schemeClr val="dk1"/>
              </a:solidFill>
            </a:endParaRPr>
          </a:p>
        </p:txBody>
      </p:sp>
      <p:sp>
        <p:nvSpPr>
          <p:cNvPr id="348" name="Google Shape;348;p36"/>
          <p:cNvSpPr txBox="1"/>
          <p:nvPr/>
        </p:nvSpPr>
        <p:spPr>
          <a:xfrm>
            <a:off x="2214800" y="4060250"/>
            <a:ext cx="76851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SG" sz="2800">
                <a:solidFill>
                  <a:schemeClr val="dk1"/>
                </a:solidFill>
                <a:latin typeface="Calibri"/>
                <a:ea typeface="Calibri"/>
                <a:cs typeface="Calibri"/>
                <a:sym typeface="Calibri"/>
              </a:rPr>
              <a:t>Name: Precious Kolawole</a:t>
            </a:r>
            <a:endParaRPr sz="2800">
              <a:solidFill>
                <a:schemeClr val="dk1"/>
              </a:solidFill>
              <a:latin typeface="Calibri"/>
              <a:ea typeface="Calibri"/>
              <a:cs typeface="Calibri"/>
              <a:sym typeface="Calibri"/>
            </a:endParaRPr>
          </a:p>
          <a:p>
            <a:pPr indent="0" lvl="0" marL="0" rtl="0" algn="ctr">
              <a:spcBef>
                <a:spcPts val="0"/>
              </a:spcBef>
              <a:spcAft>
                <a:spcPts val="0"/>
              </a:spcAft>
              <a:buNone/>
            </a:pPr>
            <a:r>
              <a:rPr lang="en-SG" sz="2800">
                <a:solidFill>
                  <a:schemeClr val="dk1"/>
                </a:solidFill>
                <a:latin typeface="Calibri"/>
                <a:ea typeface="Calibri"/>
                <a:cs typeface="Calibri"/>
                <a:sym typeface="Calibri"/>
              </a:rPr>
              <a:t>Email: preciouskolawole@cmail.carleton.ca</a:t>
            </a:r>
            <a:endParaRPr sz="2800">
              <a:solidFill>
                <a:schemeClr val="dk1"/>
              </a:solidFill>
              <a:latin typeface="Calibri"/>
              <a:ea typeface="Calibri"/>
              <a:cs typeface="Calibri"/>
              <a:sym typeface="Calibri"/>
            </a:endParaRPr>
          </a:p>
        </p:txBody>
      </p:sp>
      <p:pic>
        <p:nvPicPr>
          <p:cNvPr id="349" name="Google Shape;349;p36"/>
          <p:cNvPicPr preferRelativeResize="0"/>
          <p:nvPr/>
        </p:nvPicPr>
        <p:blipFill>
          <a:blip r:embed="rId4">
            <a:alphaModFix/>
          </a:blip>
          <a:stretch>
            <a:fillRect/>
          </a:stretch>
        </p:blipFill>
        <p:spPr>
          <a:xfrm>
            <a:off x="1306097" y="6135025"/>
            <a:ext cx="1634929" cy="304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
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8816ab8e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c8816ab8e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c8816ab8e3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8816ab8e3_0_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c8816ab8e3_0_1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>
                <a:solidFill>
                  <a:schemeClr val="dk1"/>
                </a:solidFill>
              </a:rPr>
              <a:t>Ultrasound imaging provides real time, radiation free views of internal anatomy.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>
                <a:solidFill>
                  <a:schemeClr val="dk1"/>
                </a:solidFill>
              </a:rPr>
              <a:t>But raw images are noisy; difficult for clinicians to interpret.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>
                <a:solidFill>
                  <a:schemeClr val="dk1"/>
                </a:solidFill>
              </a:rPr>
              <a:t>We can simplify ultrasound through segmentation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>
                <a:solidFill>
                  <a:schemeClr val="dk1"/>
                </a:solidFill>
              </a:rPr>
              <a:t>However, it requires many scans with detailed annotated masks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>
                <a:solidFill>
                  <a:schemeClr val="dk1"/>
                </a:solidFill>
              </a:rPr>
              <a:t>Expensive and challenging in resource limited environments.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c8816ab8e3_0_1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8816ab8e3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c8816ab8e3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c8816ab8e3_0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8816ab8e3_0_3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c8816ab8e3_0_3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c8816ab8e3_0_3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8816ab8e3_0_3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c8816ab8e3_0_3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two sonographers</a:t>
            </a:r>
            <a:endParaRPr/>
          </a:p>
        </p:txBody>
      </p:sp>
      <p:sp>
        <p:nvSpPr>
          <p:cNvPr id="156" name="Google Shape;156;g3c8816ab8e3_0_3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8816ab8e3_0_10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c8816ab8e3_0_10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two sonographers</a:t>
            </a:r>
            <a:endParaRPr/>
          </a:p>
        </p:txBody>
      </p:sp>
      <p:sp>
        <p:nvSpPr>
          <p:cNvPr id="167" name="Google Shape;167;g3c8816ab8e3_0_10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8816ab8e3_0_10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fully supervised learning - the ideal annotation where there is paired image-mask sample.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unpaired cyclegan learning - addresses the challenge of no labelled data - it shows labelling constraint.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semi supervised (hybrid) learning - shows limited paired data in the presence of abundant unlabelled data. </a:t>
            </a:r>
            <a:endParaRPr/>
          </a:p>
        </p:txBody>
      </p:sp>
      <p:sp>
        <p:nvSpPr>
          <p:cNvPr id="176" name="Google Shape;176;g3c8816ab8e3_0_10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8816ab8e3_0_5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c8816ab8e3_0_5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mimics the ideal annotation scenario where there is paired-image mask. (for both binary and multiclass)</a:t>
            </a:r>
            <a:endParaRPr/>
          </a:p>
        </p:txBody>
      </p:sp>
      <p:sp>
        <p:nvSpPr>
          <p:cNvPr id="184" name="Google Shape;184;g3c8816ab8e3_0_5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8816ab8e3_0_5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c8816ab8e3_0_5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-SG" sz="1600">
                <a:solidFill>
                  <a:schemeClr val="dk1"/>
                </a:solidFill>
              </a:rPr>
              <a:t>No paired data scenario.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-SG" sz="1600">
                <a:solidFill>
                  <a:schemeClr val="dk1"/>
                </a:solidFill>
              </a:rPr>
              <a:t>The generator creates synthetic data to mimic a real dataset, while the discriminator acts as a classifier, attempting to distinguish between real data and the generator's fake, synthetic output.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-SG" sz="1600">
                <a:solidFill>
                  <a:schemeClr val="dk1"/>
                </a:solidFill>
              </a:rPr>
              <a:t>Identity loss was omitted for multiclass due to the fundamental incompatibility between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>
                <a:solidFill>
                  <a:schemeClr val="dk1"/>
                </a:solidFill>
              </a:rPr>
              <a:t>continuous ultrasound and discrete one-hot label representations.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4" name="Google Shape;204;g3c8816ab8e3_0_5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8816ab8e3_0_6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c8816ab8e3_0_6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mimics where there is limited ground truth in the presence of abundant unlabeled data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answers if incorporating a few annotations could meaningfully boost segmentation esp when all data remained unpaired.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7" name="Google Shape;237;g3c8816ab8e3_0_6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c8816ab8e3_0_6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c8816ab8e3_0_6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8816ab8e3_0_7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c8816ab8e3_0_7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8816ab8e3_0_8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g3c8816ab8e3_0_8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c8816ab8e3_0_8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8816ab8e3_0_8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g3c8816ab8e3_0_8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c8816ab8e3_0_8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8816ab8e3_0_10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c8816ab8e3_0_10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SG"/>
              <a:t> Determine whether unpaired approaches can produce clinically useful segmentations.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SG"/>
              <a:t>Determine how segmentation complexity fundamentally reshapes these requirements.</a:t>
            </a:r>
            <a:endParaRPr/>
          </a:p>
        </p:txBody>
      </p:sp>
      <p:sp>
        <p:nvSpPr>
          <p:cNvPr id="305" name="Google Shape;305;g3c8816ab8e3_0_10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de09798d5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de09798d5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de09798d53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8816ab8e3_0_9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c8816ab8e3_0_9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SG">
                <a:solidFill>
                  <a:schemeClr val="dk1"/>
                </a:solidFill>
              </a:rPr>
              <a:t>mimics the ideal annotation scenario where there is paired-image mask.</a:t>
            </a:r>
            <a:endParaRPr/>
          </a:p>
        </p:txBody>
      </p:sp>
      <p:sp>
        <p:nvSpPr>
          <p:cNvPr id="323" name="Google Shape;323;g3c8816ab8e3_0_9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297" y="0"/>
            <a:ext cx="12257661" cy="688183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 txBox="1"/>
          <p:nvPr>
            <p:ph type="ctrTitle"/>
          </p:nvPr>
        </p:nvSpPr>
        <p:spPr>
          <a:xfrm>
            <a:off x="763200" y="1088115"/>
            <a:ext cx="9192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1" sz="4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subTitle"/>
          </p:nvPr>
        </p:nvSpPr>
        <p:spPr>
          <a:xfrm>
            <a:off x="763200" y="3580131"/>
            <a:ext cx="9192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075" y="5763492"/>
            <a:ext cx="2236924" cy="109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red surface with a black background&#10;&#10;Description automatically generated with medium confidence" id="86" name="Google Shape;8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6896" y="-8964"/>
            <a:ext cx="12239997" cy="68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>
            <p:ph idx="1" type="body"/>
          </p:nvPr>
        </p:nvSpPr>
        <p:spPr>
          <a:xfrm>
            <a:off x="714000" y="1624331"/>
            <a:ext cx="10740900" cy="4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075" y="5763492"/>
            <a:ext cx="2236924" cy="109450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>
            <p:ph type="title"/>
          </p:nvPr>
        </p:nvSpPr>
        <p:spPr>
          <a:xfrm>
            <a:off x="761999" y="576792"/>
            <a:ext cx="1074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78069" y="-38243"/>
            <a:ext cx="12288000" cy="69119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>
            <p:ph type="ctrTitle"/>
          </p:nvPr>
        </p:nvSpPr>
        <p:spPr>
          <a:xfrm>
            <a:off x="631859" y="2403052"/>
            <a:ext cx="9323100" cy="9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1" sz="43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" type="subTitle"/>
          </p:nvPr>
        </p:nvSpPr>
        <p:spPr>
          <a:xfrm>
            <a:off x="631860" y="3482937"/>
            <a:ext cx="93231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075" y="5763492"/>
            <a:ext cx="2236924" cy="109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New Section">
  <p:cSld name="2_New Sec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6"/>
          <p:cNvPicPr preferRelativeResize="0"/>
          <p:nvPr/>
        </p:nvPicPr>
        <p:blipFill rotWithShape="1">
          <a:blip r:embed="rId2">
            <a:alphaModFix/>
          </a:blip>
          <a:srcRect b="2799" l="0" r="0" t="0"/>
          <a:stretch/>
        </p:blipFill>
        <p:spPr>
          <a:xfrm>
            <a:off x="-8965" y="-8965"/>
            <a:ext cx="12239998" cy="68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>
            <p:ph type="ctrTitle"/>
          </p:nvPr>
        </p:nvSpPr>
        <p:spPr>
          <a:xfrm>
            <a:off x="763200" y="561531"/>
            <a:ext cx="7616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  <a:defRPr b="1" sz="3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subTitle"/>
          </p:nvPr>
        </p:nvSpPr>
        <p:spPr>
          <a:xfrm>
            <a:off x="763200" y="3041205"/>
            <a:ext cx="7616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9" name="Google Shape;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0707" y="5477565"/>
            <a:ext cx="2821293" cy="1380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Wave Above">
  <p:cSld name="Content Slide - Wave Abov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2" y="-13500"/>
            <a:ext cx="12239998" cy="68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762000" y="2056399"/>
            <a:ext cx="10740900" cy="3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1pPr>
            <a:lvl2pPr indent="-381000" lvl="1" marL="914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3pPr>
            <a:lvl4pPr indent="-3810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075" y="5763492"/>
            <a:ext cx="2236924" cy="109450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type="title"/>
          </p:nvPr>
        </p:nvSpPr>
        <p:spPr>
          <a:xfrm>
            <a:off x="761999" y="1022061"/>
            <a:ext cx="10740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55075" y="5763491"/>
            <a:ext cx="2236924" cy="109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New Section">
  <p:cSld name="1_New Sec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8"/>
          <p:cNvPicPr preferRelativeResize="0"/>
          <p:nvPr/>
        </p:nvPicPr>
        <p:blipFill rotWithShape="1">
          <a:blip r:embed="rId2">
            <a:alphaModFix/>
          </a:blip>
          <a:srcRect b="3120" l="0" r="0" t="0"/>
          <a:stretch/>
        </p:blipFill>
        <p:spPr>
          <a:xfrm>
            <a:off x="-17931" y="-15607"/>
            <a:ext cx="12239998" cy="6891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0707" y="5477565"/>
            <a:ext cx="2821293" cy="138043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>
            <p:ph type="ctrTitle"/>
          </p:nvPr>
        </p:nvSpPr>
        <p:spPr>
          <a:xfrm>
            <a:off x="763200" y="561531"/>
            <a:ext cx="76167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Arial"/>
              <a:buNone/>
              <a:defRPr b="1" sz="3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subTitle"/>
          </p:nvPr>
        </p:nvSpPr>
        <p:spPr>
          <a:xfrm>
            <a:off x="763200" y="3041205"/>
            <a:ext cx="7616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S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preciouskolawole@cmail.carleton.ca" TargetMode="Externa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ctrTitle"/>
          </p:nvPr>
        </p:nvSpPr>
        <p:spPr>
          <a:xfrm>
            <a:off x="1388400" y="891474"/>
            <a:ext cx="94152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SG" sz="3600"/>
              <a:t>Limited Paired Labels Suffice for Binary but Not Multiclass Ultrasound Segmentation</a:t>
            </a:r>
            <a:endParaRPr sz="3600"/>
          </a:p>
        </p:txBody>
      </p:sp>
      <p:sp>
        <p:nvSpPr>
          <p:cNvPr id="117" name="Google Shape;117;p19"/>
          <p:cNvSpPr txBox="1"/>
          <p:nvPr>
            <p:ph idx="1" type="subTitle"/>
          </p:nvPr>
        </p:nvSpPr>
        <p:spPr>
          <a:xfrm>
            <a:off x="1524000" y="37488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SG"/>
              <a:t>Precious Kolawole and Matthew S. Holden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SG"/>
              <a:t>Carleton University, School of Computer Science, Ottawa, Ontario, Canada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900951" y="842625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1178663" y="1779100"/>
            <a:ext cx="9834600" cy="318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20" title="Screenshot 2026-02-13 at 3.48.1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375" y="2222925"/>
            <a:ext cx="2304825" cy="229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 title="Screenshot 2026-02-13 at 3.49.4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3572" y="2219375"/>
            <a:ext cx="2304825" cy="23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 title="Screenshot 2026-02-13 at 3.50.0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5913" y="2219375"/>
            <a:ext cx="2318977" cy="230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2639981" y="4520675"/>
            <a:ext cx="68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image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5476183" y="4520675"/>
            <a:ext cx="1239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expert drawn mask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8508501" y="4520675"/>
            <a:ext cx="109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segmentation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 Work</a:t>
            </a:r>
            <a:endParaRPr/>
          </a:p>
        </p:txBody>
      </p:sp>
      <p:sp>
        <p:nvSpPr>
          <p:cNvPr id="141" name="Google Shape;141;p21"/>
          <p:cNvSpPr txBox="1"/>
          <p:nvPr/>
        </p:nvSpPr>
        <p:spPr>
          <a:xfrm>
            <a:off x="900949" y="1573300"/>
            <a:ext cx="10617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SG" sz="1800">
                <a:solidFill>
                  <a:schemeClr val="dk1"/>
                </a:solidFill>
              </a:rPr>
              <a:t>U-Net</a:t>
            </a:r>
            <a:r>
              <a:rPr baseline="30000" lang="en-SG" sz="1800">
                <a:solidFill>
                  <a:schemeClr val="dk1"/>
                </a:solidFill>
              </a:rPr>
              <a:t>1</a:t>
            </a:r>
            <a:r>
              <a:rPr lang="en-SG" sz="1800">
                <a:solidFill>
                  <a:schemeClr val="dk1"/>
                </a:solidFill>
              </a:rPr>
              <a:t> for fully supervised segmentation needs paired data </a:t>
            </a:r>
            <a:endParaRPr sz="1800">
              <a:solidFill>
                <a:schemeClr val="dk1"/>
              </a:solidFill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SG" sz="1800">
                <a:solidFill>
                  <a:schemeClr val="dk1"/>
                </a:solidFill>
              </a:rPr>
              <a:t>Unpaired domain translation, CycleGAN</a:t>
            </a:r>
            <a:r>
              <a:rPr baseline="30000" lang="en-SG" sz="1800">
                <a:solidFill>
                  <a:schemeClr val="dk1"/>
                </a:solidFill>
              </a:rPr>
              <a:t>2</a:t>
            </a:r>
            <a:r>
              <a:rPr lang="en-SG" sz="1800">
                <a:solidFill>
                  <a:schemeClr val="dk1"/>
                </a:solidFill>
              </a:rPr>
              <a:t> used in cardiac US with constrained shape has questionable performance for complex US structures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SG" sz="1800">
                <a:solidFill>
                  <a:schemeClr val="dk1"/>
                </a:solidFill>
              </a:rPr>
              <a:t>Semi-supervised with consistency regularization</a:t>
            </a:r>
            <a:r>
              <a:rPr baseline="30000" lang="en-SG" sz="1800">
                <a:solidFill>
                  <a:schemeClr val="dk1"/>
                </a:solidFill>
              </a:rPr>
              <a:t>3</a:t>
            </a:r>
            <a:r>
              <a:rPr lang="en-SG" sz="1800">
                <a:solidFill>
                  <a:schemeClr val="dk1"/>
                </a:solidFill>
              </a:rPr>
              <a:t> and adversarial training uses limited annotation, </a:t>
            </a:r>
            <a:r>
              <a:rPr lang="en-SG" sz="1800">
                <a:solidFill>
                  <a:schemeClr val="dk1"/>
                </a:solidFill>
              </a:rPr>
              <a:t>but the effect of task complexity (binary vs. multiclass) on these methods remains unclear</a:t>
            </a:r>
            <a:r>
              <a:rPr lang="en-SG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1"/>
          <p:cNvSpPr txBox="1"/>
          <p:nvPr/>
        </p:nvSpPr>
        <p:spPr>
          <a:xfrm>
            <a:off x="900950" y="4907600"/>
            <a:ext cx="1005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Ronneberger, O., et al, “U-net: Convolutional networks for biomedical image segmentation,” (2015).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Zhu, J.-Y., et al, “Unpaired image-to-image translation using cycle-consistent adversarial networks,” (2017).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Zhang, Z., et al, “Translating and segmenting multimodal medical volumes with cycle-and shape-consistency generative adversarial network,” (2018).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650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151" name="Google Shape;151;p22"/>
          <p:cNvSpPr txBox="1"/>
          <p:nvPr/>
        </p:nvSpPr>
        <p:spPr>
          <a:xfrm>
            <a:off x="793375" y="2200675"/>
            <a:ext cx="10804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1800">
                <a:solidFill>
                  <a:schemeClr val="dk1"/>
                </a:solidFill>
              </a:rPr>
              <a:t>Research Question: Can we effectively simplify ultrasound through segmentation with limited or no paired annotation?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SG" sz="1800">
                <a:solidFill>
                  <a:schemeClr val="dk1"/>
                </a:solidFill>
              </a:rPr>
              <a:t>Determine whether unpaired approaches can produce clinically useful segmentations.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SG" sz="1800">
                <a:solidFill>
                  <a:schemeClr val="dk1"/>
                </a:solidFill>
              </a:rPr>
              <a:t>Determine how segmentation complexity (binary vs. multiclass) fundamentally reshapes these requirements.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5074963" y="2736300"/>
            <a:ext cx="6064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G" sz="1800"/>
              <a:t>Open kidney dataset</a:t>
            </a:r>
            <a:r>
              <a:rPr baseline="30000" lang="en-SG" sz="1800"/>
              <a:t>4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G" sz="1800"/>
              <a:t>534 US images of patients with chronic kidney disease, donor and transplant recipients </a:t>
            </a:r>
            <a:endParaRPr sz="18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SG" sz="1800"/>
              <a:t>Four kidney regions annotated: </a:t>
            </a:r>
            <a:r>
              <a:rPr b="1" lang="en-SG" sz="1800"/>
              <a:t>cortex</a:t>
            </a:r>
            <a:r>
              <a:rPr lang="en-SG" sz="1800"/>
              <a:t>, </a:t>
            </a:r>
            <a:r>
              <a:rPr b="1" lang="en-SG" sz="1800"/>
              <a:t>capsule</a:t>
            </a:r>
            <a:r>
              <a:rPr lang="en-SG" sz="1800"/>
              <a:t>, </a:t>
            </a:r>
            <a:r>
              <a:rPr b="1" lang="en-SG" sz="1800"/>
              <a:t>medulla</a:t>
            </a:r>
            <a:r>
              <a:rPr lang="en-SG" sz="1800"/>
              <a:t>, and </a:t>
            </a:r>
            <a:r>
              <a:rPr b="1" lang="en-SG" sz="1800"/>
              <a:t>central echo complex</a:t>
            </a:r>
            <a:endParaRPr sz="1800"/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463" y="1876477"/>
            <a:ext cx="3541399" cy="288965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1381050" y="5487400"/>
            <a:ext cx="9429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SG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Singla, R., et al, “The open kidney ultrasound data set,” (2023).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793375" y="1485300"/>
            <a:ext cx="871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Image-mask center cropped by 70%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Resized to 256 x 256 pixels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[0,1] normalized for supervised; [-1,1] normalized for GANs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Prevented information leakage: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 title="OpenKidneyDatasetSpli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3250" y="2701025"/>
            <a:ext cx="6965499" cy="30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/>
        </p:nvSpPr>
        <p:spPr>
          <a:xfrm>
            <a:off x="1306100" y="2285400"/>
            <a:ext cx="871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major approaches: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supervised learning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Unpaired CycleGAN learning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SG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Semi supervised (hybrid) learning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806426" y="1140887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/>
          </a:p>
        </p:txBody>
      </p:sp>
      <p:pic>
        <p:nvPicPr>
          <p:cNvPr id="180" name="Google Shape;18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6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- Fully Supervised Learning</a:t>
            </a:r>
            <a:endParaRPr sz="1100"/>
          </a:p>
        </p:txBody>
      </p:sp>
      <p:sp>
        <p:nvSpPr>
          <p:cNvPr id="188" name="Google Shape;188;p26"/>
          <p:cNvSpPr txBox="1"/>
          <p:nvPr/>
        </p:nvSpPr>
        <p:spPr>
          <a:xfrm>
            <a:off x="1542525" y="1676050"/>
            <a:ext cx="6558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8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SG" sz="1600"/>
              <a:t>Used only paired image-mask from Set A </a:t>
            </a:r>
            <a:endParaRPr sz="1600"/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Trained with U-NET++ (pretrained: ImageNet; encoder: ResNet-101)</a:t>
            </a:r>
            <a:endParaRPr sz="1600"/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Dice Loss: </a:t>
            </a:r>
            <a:r>
              <a:rPr b="1" i="1" lang="en-SG" sz="1600"/>
              <a:t>1 - DS = 1 - 2TP/ 2TP + FP + FN</a:t>
            </a:r>
            <a:endParaRPr sz="16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26"/>
          <p:cNvSpPr/>
          <p:nvPr/>
        </p:nvSpPr>
        <p:spPr>
          <a:xfrm>
            <a:off x="3644900" y="3441702"/>
            <a:ext cx="2796000" cy="15633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50" lIns="81250" spcFirstLastPara="1" rIns="81250" wrap="square" tIns="8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/>
          <p:nvPr/>
        </p:nvSpPr>
        <p:spPr>
          <a:xfrm>
            <a:off x="8152350" y="3441689"/>
            <a:ext cx="1487100" cy="15633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847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250" lIns="81250" spcFirstLastPara="1" rIns="81250" wrap="square" tIns="8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4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6" title="us_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250" y="3806501"/>
            <a:ext cx="831375" cy="83370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92" name="Google Shape;192;p26" title="mask_p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0100" y="3809987"/>
            <a:ext cx="831301" cy="82672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4225400" y="3410850"/>
            <a:ext cx="16350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1250" lIns="81250" spcFirstLastPara="1" rIns="81250" wrap="square" tIns="81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4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Paired image-mask</a:t>
            </a:r>
            <a:endParaRPr sz="14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4451000" y="4649450"/>
            <a:ext cx="11838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1250" lIns="81250" spcFirstLastPara="1" rIns="81250" wrap="square" tIns="81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4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patient</a:t>
            </a:r>
            <a:endParaRPr sz="14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6" title="pred_p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52750" y="3747200"/>
            <a:ext cx="886248" cy="8911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8406727" y="3410838"/>
            <a:ext cx="9783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1250" lIns="81250" spcFirstLastPara="1" rIns="81250" wrap="square" tIns="81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4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 sz="14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8303975" y="4649463"/>
            <a:ext cx="11838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1250" lIns="81250" spcFirstLastPara="1" rIns="81250" wrap="square" tIns="81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4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x 256 x 256</a:t>
            </a:r>
            <a:endParaRPr sz="1444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6479115" y="3607750"/>
            <a:ext cx="1635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UNET++ ResNet101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ImageNet Encoder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26"/>
          <p:cNvCxnSpPr>
            <a:stCxn id="189" idx="3"/>
            <a:endCxn id="190" idx="1"/>
          </p:cNvCxnSpPr>
          <p:nvPr/>
        </p:nvCxnSpPr>
        <p:spPr>
          <a:xfrm>
            <a:off x="6440900" y="4223352"/>
            <a:ext cx="171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0" name="Google Shape;20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- </a:t>
            </a:r>
            <a:r>
              <a:rPr b="1" lang="en-SG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Unpaired CycleGAN Learning</a:t>
            </a:r>
            <a:endParaRPr sz="1100"/>
          </a:p>
        </p:txBody>
      </p:sp>
      <p:sp>
        <p:nvSpPr>
          <p:cNvPr id="208" name="Google Shape;208;p27"/>
          <p:cNvSpPr txBox="1"/>
          <p:nvPr/>
        </p:nvSpPr>
        <p:spPr>
          <a:xfrm>
            <a:off x="924675" y="1290250"/>
            <a:ext cx="5120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Used images from Set A and masks from Set B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Two generator-discriminator pairs: </a:t>
            </a:r>
            <a:endParaRPr sz="1600"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SG" sz="1600"/>
              <a:t>G</a:t>
            </a:r>
            <a:r>
              <a:rPr baseline="-25000" lang="en-SG" sz="1600"/>
              <a:t>US</a:t>
            </a:r>
            <a:r>
              <a:rPr baseline="-25000" lang="en-SG" sz="1600"/>
              <a:t>→Mask</a:t>
            </a:r>
            <a:r>
              <a:rPr lang="en-SG" sz="1600"/>
              <a:t> and G</a:t>
            </a:r>
            <a:r>
              <a:rPr baseline="-25000" lang="en-SG" sz="1600"/>
              <a:t>Mask</a:t>
            </a:r>
            <a:r>
              <a:rPr baseline="-25000" lang="en-SG" sz="1600"/>
              <a:t>→US</a:t>
            </a:r>
            <a:endParaRPr sz="1600"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SG" sz="1600"/>
              <a:t>PatchGAN discriminator (D</a:t>
            </a:r>
            <a:r>
              <a:rPr baseline="-25000" lang="en-SG" sz="1600"/>
              <a:t>US</a:t>
            </a:r>
            <a:r>
              <a:rPr lang="en-SG" sz="1600"/>
              <a:t> and D</a:t>
            </a:r>
            <a:r>
              <a:rPr baseline="-25000" lang="en-SG" sz="1600"/>
              <a:t>Mask</a:t>
            </a:r>
            <a:r>
              <a:rPr lang="en-SG" sz="1600"/>
              <a:t>)</a:t>
            </a:r>
            <a:endParaRPr baseline="-25000"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Generators have U-Net++ backbones &amp; ResNet-101 encoders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Loss: </a:t>
            </a:r>
            <a:r>
              <a:rPr b="1" lang="en-SG" sz="1600"/>
              <a:t>ℒ</a:t>
            </a:r>
            <a:r>
              <a:rPr b="1" baseline="30000" lang="en-SG" sz="1600"/>
              <a:t>US</a:t>
            </a:r>
            <a:r>
              <a:rPr b="1" baseline="-25000" lang="en-SG" sz="1600"/>
              <a:t>adv</a:t>
            </a:r>
            <a:r>
              <a:rPr b="1" lang="en-SG" sz="1600"/>
              <a:t> + ℒ</a:t>
            </a:r>
            <a:r>
              <a:rPr b="1" baseline="30000" lang="en-SG" sz="1600"/>
              <a:t>Mask</a:t>
            </a:r>
            <a:r>
              <a:rPr b="1" baseline="-25000" lang="en-SG" sz="1600"/>
              <a:t>adv</a:t>
            </a:r>
            <a:r>
              <a:rPr b="1" lang="en-SG" sz="1600"/>
              <a:t> + ℒ</a:t>
            </a:r>
            <a:r>
              <a:rPr b="1" baseline="30000" lang="en-SG" sz="1600"/>
              <a:t>US</a:t>
            </a:r>
            <a:r>
              <a:rPr b="1" baseline="-25000" lang="en-SG" sz="1600"/>
              <a:t>cyc</a:t>
            </a:r>
            <a:r>
              <a:rPr b="1" lang="en-SG" sz="1600"/>
              <a:t> + ℒ</a:t>
            </a:r>
            <a:r>
              <a:rPr b="1" baseline="30000" lang="en-SG" sz="1600"/>
              <a:t>Mask</a:t>
            </a:r>
            <a:r>
              <a:rPr b="1" baseline="-25000" lang="en-SG" sz="1600"/>
              <a:t>cyc</a:t>
            </a:r>
            <a:r>
              <a:rPr b="1" lang="en-SG" sz="1600"/>
              <a:t> (+ ℒ</a:t>
            </a:r>
            <a:r>
              <a:rPr b="1" baseline="-25000" lang="en-SG" sz="1600"/>
              <a:t>id</a:t>
            </a:r>
            <a:r>
              <a:rPr b="1" lang="en-SG" sz="1600"/>
              <a:t> binary only</a:t>
            </a:r>
            <a:r>
              <a:rPr lang="en-SG" sz="1600"/>
              <a:t>)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Segmentation model = G</a:t>
            </a:r>
            <a:r>
              <a:rPr baseline="-25000" lang="en-SG" sz="1600"/>
              <a:t>US</a:t>
            </a:r>
            <a:r>
              <a:rPr baseline="-25000" lang="en-SG" sz="1600"/>
              <a:t>→Mask</a:t>
            </a:r>
            <a:r>
              <a:rPr lang="en-SG" sz="1600"/>
              <a:t> at inference</a:t>
            </a:r>
            <a:endParaRPr sz="1600"/>
          </a:p>
        </p:txBody>
      </p:sp>
      <p:sp>
        <p:nvSpPr>
          <p:cNvPr id="209" name="Google Shape;209;p27"/>
          <p:cNvSpPr/>
          <p:nvPr/>
        </p:nvSpPr>
        <p:spPr>
          <a:xfrm>
            <a:off x="5222400" y="4262625"/>
            <a:ext cx="2366700" cy="1377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855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875" lIns="81875" spcFirstLastPara="1" rIns="81875" wrap="square" tIns="8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4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27" title="us_p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389" y="4554804"/>
            <a:ext cx="791333" cy="7935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5884675" y="4149275"/>
            <a:ext cx="10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US</a:t>
            </a:r>
            <a:endParaRPr sz="14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7"/>
          <p:cNvSpPr txBox="1"/>
          <p:nvPr/>
        </p:nvSpPr>
        <p:spPr>
          <a:xfrm>
            <a:off x="5670151" y="5282000"/>
            <a:ext cx="147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A ultrasounds</a:t>
            </a:r>
            <a:endParaRPr sz="14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9628875" y="4262801"/>
            <a:ext cx="2019900" cy="1377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855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875" lIns="81875" spcFirstLastPara="1" rIns="81875" wrap="square" tIns="8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7"/>
          <p:cNvSpPr txBox="1"/>
          <p:nvPr/>
        </p:nvSpPr>
        <p:spPr>
          <a:xfrm>
            <a:off x="9991775" y="4151225"/>
            <a:ext cx="1356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Mask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7"/>
          <p:cNvSpPr txBox="1"/>
          <p:nvPr/>
        </p:nvSpPr>
        <p:spPr>
          <a:xfrm>
            <a:off x="10101975" y="5283950"/>
            <a:ext cx="1073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B masks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7" title="us_p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8776" y="4558486"/>
            <a:ext cx="791328" cy="786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7" title="mask_p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67369" y="4561100"/>
            <a:ext cx="791283" cy="780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7" title="mask_p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4783" y="4555936"/>
            <a:ext cx="791284" cy="79128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7"/>
          <p:cNvSpPr/>
          <p:nvPr/>
        </p:nvSpPr>
        <p:spPr>
          <a:xfrm>
            <a:off x="7930859" y="3864702"/>
            <a:ext cx="1356300" cy="535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8"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aseline="-25000" lang="en-SG" sz="1408"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baseline="-25000" lang="en-SG" sz="1408">
                <a:latin typeface="Calibri"/>
                <a:ea typeface="Calibri"/>
                <a:cs typeface="Calibri"/>
                <a:sym typeface="Calibri"/>
              </a:rPr>
              <a:t>-&gt;Mask</a:t>
            </a:r>
            <a:r>
              <a:rPr lang="en-SG" sz="1408">
                <a:latin typeface="Calibri"/>
                <a:ea typeface="Calibri"/>
                <a:cs typeface="Calibri"/>
                <a:sym typeface="Calibri"/>
              </a:rPr>
              <a:t> (UNet++)</a:t>
            </a:r>
            <a:endParaRPr sz="140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/>
          <p:nvPr/>
        </p:nvSpPr>
        <p:spPr>
          <a:xfrm>
            <a:off x="7930859" y="4875649"/>
            <a:ext cx="1356300" cy="535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aseline="-25000" lang="en-SG">
                <a:latin typeface="Calibri"/>
                <a:ea typeface="Calibri"/>
                <a:cs typeface="Calibri"/>
                <a:sym typeface="Calibri"/>
              </a:rPr>
              <a:t>Mask</a:t>
            </a:r>
            <a:r>
              <a:rPr baseline="-25000" lang="en-SG">
                <a:latin typeface="Calibri"/>
                <a:ea typeface="Calibri"/>
                <a:cs typeface="Calibri"/>
                <a:sym typeface="Calibri"/>
              </a:rPr>
              <a:t>-&gt;US</a:t>
            </a:r>
            <a:r>
              <a:rPr lang="en-SG">
                <a:latin typeface="Calibri"/>
                <a:ea typeface="Calibri"/>
                <a:cs typeface="Calibri"/>
                <a:sym typeface="Calibri"/>
              </a:rPr>
              <a:t> (UNet++)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7"/>
          <p:cNvCxnSpPr>
            <a:stCxn id="220" idx="1"/>
          </p:cNvCxnSpPr>
          <p:nvPr/>
        </p:nvCxnSpPr>
        <p:spPr>
          <a:xfrm flipH="1">
            <a:off x="7571459" y="5143399"/>
            <a:ext cx="359400" cy="3543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7"/>
          <p:cNvCxnSpPr>
            <a:stCxn id="219" idx="3"/>
            <a:endCxn id="213" idx="1"/>
          </p:cNvCxnSpPr>
          <p:nvPr/>
        </p:nvCxnSpPr>
        <p:spPr>
          <a:xfrm>
            <a:off x="9287159" y="4132452"/>
            <a:ext cx="341700" cy="8193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7"/>
          <p:cNvCxnSpPr>
            <a:endCxn id="220" idx="3"/>
          </p:cNvCxnSpPr>
          <p:nvPr/>
        </p:nvCxnSpPr>
        <p:spPr>
          <a:xfrm rot="10800000">
            <a:off x="9287159" y="5143399"/>
            <a:ext cx="344100" cy="2997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7"/>
          <p:cNvCxnSpPr/>
          <p:nvPr/>
        </p:nvCxnSpPr>
        <p:spPr>
          <a:xfrm>
            <a:off x="8263625" y="4400204"/>
            <a:ext cx="0" cy="4752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7"/>
          <p:cNvCxnSpPr/>
          <p:nvPr/>
        </p:nvCxnSpPr>
        <p:spPr>
          <a:xfrm rot="10800000">
            <a:off x="8924229" y="4400302"/>
            <a:ext cx="0" cy="4752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6" name="Google Shape;226;p27"/>
          <p:cNvSpPr/>
          <p:nvPr/>
        </p:nvSpPr>
        <p:spPr>
          <a:xfrm>
            <a:off x="5727603" y="3329200"/>
            <a:ext cx="1356300" cy="535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117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526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SG" sz="1526"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lang="en-SG" sz="1526">
                <a:latin typeface="Calibri"/>
                <a:ea typeface="Calibri"/>
                <a:cs typeface="Calibri"/>
                <a:sym typeface="Calibri"/>
              </a:rPr>
              <a:t> PatchGAN</a:t>
            </a:r>
            <a:endParaRPr sz="152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/>
          <p:nvPr/>
        </p:nvSpPr>
        <p:spPr>
          <a:xfrm>
            <a:off x="9876225" y="3329200"/>
            <a:ext cx="1525200" cy="535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117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PatchGAN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8" name="Google Shape;228;p27"/>
          <p:cNvCxnSpPr>
            <a:endCxn id="219" idx="1"/>
          </p:cNvCxnSpPr>
          <p:nvPr/>
        </p:nvCxnSpPr>
        <p:spPr>
          <a:xfrm flipH="1" rot="10800000">
            <a:off x="7580459" y="4132452"/>
            <a:ext cx="350400" cy="3489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7"/>
          <p:cNvCxnSpPr>
            <a:stCxn id="220" idx="2"/>
            <a:endCxn id="226" idx="3"/>
          </p:cNvCxnSpPr>
          <p:nvPr/>
        </p:nvCxnSpPr>
        <p:spPr>
          <a:xfrm flipH="1" rot="5400000">
            <a:off x="6939359" y="3741499"/>
            <a:ext cx="1814100" cy="1525200"/>
          </a:xfrm>
          <a:prstGeom prst="curvedConnector4">
            <a:avLst>
              <a:gd fmla="val -13126" name="adj1"/>
              <a:gd fmla="val 64656" name="adj2"/>
            </a:avLst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7"/>
          <p:cNvCxnSpPr>
            <a:stCxn id="219" idx="3"/>
            <a:endCxn id="227" idx="1"/>
          </p:cNvCxnSpPr>
          <p:nvPr/>
        </p:nvCxnSpPr>
        <p:spPr>
          <a:xfrm flipH="1" rot="10800000">
            <a:off x="9287159" y="3596952"/>
            <a:ext cx="589200" cy="535500"/>
          </a:xfrm>
          <a:prstGeom prst="curvedConnector3">
            <a:avLst>
              <a:gd fmla="val 49989" name="adj1"/>
            </a:avLst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7"/>
          <p:cNvCxnSpPr>
            <a:stCxn id="209" idx="0"/>
            <a:endCxn id="226" idx="2"/>
          </p:cNvCxnSpPr>
          <p:nvPr/>
        </p:nvCxnSpPr>
        <p:spPr>
          <a:xfrm rot="10800000">
            <a:off x="6405750" y="3864825"/>
            <a:ext cx="0" cy="3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7"/>
          <p:cNvCxnSpPr>
            <a:stCxn id="213" idx="0"/>
            <a:endCxn id="227" idx="2"/>
          </p:cNvCxnSpPr>
          <p:nvPr/>
        </p:nvCxnSpPr>
        <p:spPr>
          <a:xfrm rot="10800000">
            <a:off x="10638825" y="3864701"/>
            <a:ext cx="0" cy="3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3" name="Google Shape;23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8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793375" y="632000"/>
            <a:ext cx="736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- Semi Supervised (Hybrid) Learning</a:t>
            </a:r>
            <a:endParaRPr/>
          </a:p>
        </p:txBody>
      </p:sp>
      <p:sp>
        <p:nvSpPr>
          <p:cNvPr id="241" name="Google Shape;241;p28"/>
          <p:cNvSpPr txBox="1"/>
          <p:nvPr/>
        </p:nvSpPr>
        <p:spPr>
          <a:xfrm>
            <a:off x="900950" y="1968500"/>
            <a:ext cx="4431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SG" sz="1600"/>
              <a:t>Each training has:</a:t>
            </a:r>
            <a:endParaRPr sz="1600"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SG" sz="1600"/>
              <a:t>Unpaired images from Set A</a:t>
            </a:r>
            <a:endParaRPr sz="1600"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SG" sz="1600"/>
              <a:t>Unpaired masks from Set B</a:t>
            </a:r>
            <a:endParaRPr sz="1600"/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SG" sz="1600"/>
              <a:t>Paired image-mask of Set A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Paired loss: cross entropy segmentation loss in </a:t>
            </a:r>
            <a:r>
              <a:rPr lang="en-SG" sz="1600">
                <a:solidFill>
                  <a:schemeClr val="dk1"/>
                </a:solidFill>
              </a:rPr>
              <a:t>G</a:t>
            </a:r>
            <a:r>
              <a:rPr baseline="-25000" lang="en-SG" sz="1600">
                <a:solidFill>
                  <a:schemeClr val="dk1"/>
                </a:solidFill>
              </a:rPr>
              <a:t>US→Mask</a:t>
            </a:r>
            <a:r>
              <a:rPr lang="en-SG" sz="1600"/>
              <a:t> outputs (direct supervision) 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Discriminators exclusively unpaired </a:t>
            </a:r>
            <a:endParaRPr sz="1600"/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Total loss = </a:t>
            </a:r>
            <a:r>
              <a:rPr b="1" lang="en-SG" sz="1600"/>
              <a:t>ℒ</a:t>
            </a:r>
            <a:r>
              <a:rPr b="1" baseline="-25000" lang="en-SG" sz="1600"/>
              <a:t>G</a:t>
            </a:r>
            <a:r>
              <a:rPr b="1" lang="en-SG" sz="1600"/>
              <a:t> = ℒ</a:t>
            </a:r>
            <a:r>
              <a:rPr b="1" baseline="30000" lang="en-SG" sz="1600"/>
              <a:t>US</a:t>
            </a:r>
            <a:r>
              <a:rPr b="1" baseline="-25000" lang="en-SG" sz="1600"/>
              <a:t>adv</a:t>
            </a:r>
            <a:r>
              <a:rPr b="1" lang="en-SG" sz="1600"/>
              <a:t> + ℒ</a:t>
            </a:r>
            <a:r>
              <a:rPr b="1" baseline="30000" lang="en-SG" sz="1600"/>
              <a:t>Mask</a:t>
            </a:r>
            <a:r>
              <a:rPr b="1" baseline="-25000" lang="en-SG" sz="1600"/>
              <a:t>adv</a:t>
            </a:r>
            <a:r>
              <a:rPr b="1" lang="en-SG" sz="1600"/>
              <a:t> + λ</a:t>
            </a:r>
            <a:r>
              <a:rPr b="1" baseline="-25000" lang="en-SG" sz="1600"/>
              <a:t>cyc</a:t>
            </a:r>
            <a:r>
              <a:rPr b="1" lang="en-SG" sz="1600"/>
              <a:t>(ℒ</a:t>
            </a:r>
            <a:r>
              <a:rPr b="1" baseline="30000" lang="en-SG" sz="1600"/>
              <a:t>US</a:t>
            </a:r>
            <a:r>
              <a:rPr b="1" baseline="-25000" lang="en-SG" sz="1600"/>
              <a:t>cyc</a:t>
            </a:r>
            <a:r>
              <a:rPr b="1" lang="en-SG" sz="1600"/>
              <a:t> + ℒ</a:t>
            </a:r>
            <a:r>
              <a:rPr b="1" baseline="30000" lang="en-SG" sz="1600"/>
              <a:t>Mask</a:t>
            </a:r>
            <a:r>
              <a:rPr b="1" baseline="-25000" lang="en-SG" sz="1600"/>
              <a:t>cyc</a:t>
            </a:r>
            <a:r>
              <a:rPr b="1" lang="en-SG" sz="1600"/>
              <a:t>) + λ</a:t>
            </a:r>
            <a:r>
              <a:rPr b="1" baseline="-25000" lang="en-SG" sz="1600"/>
              <a:t>seg</a:t>
            </a:r>
            <a:r>
              <a:rPr b="1" lang="en-SG" sz="1600"/>
              <a:t> ℒ</a:t>
            </a:r>
            <a:r>
              <a:rPr b="1" baseline="-25000" lang="en-SG" sz="1600"/>
              <a:t>seg</a:t>
            </a:r>
            <a:r>
              <a:rPr b="1" lang="en-SG" sz="1600"/>
              <a:t> + λ</a:t>
            </a:r>
            <a:r>
              <a:rPr b="1" baseline="-25000" lang="en-SG" sz="1600"/>
              <a:t>id</a:t>
            </a:r>
            <a:r>
              <a:rPr b="1" lang="en-SG" sz="1600"/>
              <a:t>ℒ</a:t>
            </a:r>
            <a:r>
              <a:rPr b="1" baseline="-25000" lang="en-SG" sz="1600"/>
              <a:t>id</a:t>
            </a:r>
            <a:endParaRPr sz="1600"/>
          </a:p>
        </p:txBody>
      </p:sp>
      <p:sp>
        <p:nvSpPr>
          <p:cNvPr id="242" name="Google Shape;242;p28"/>
          <p:cNvSpPr/>
          <p:nvPr/>
        </p:nvSpPr>
        <p:spPr>
          <a:xfrm>
            <a:off x="8060100" y="1664775"/>
            <a:ext cx="1731000" cy="675300"/>
          </a:xfrm>
          <a:prstGeom prst="roundRect">
            <a:avLst>
              <a:gd fmla="val 16667" name="adj"/>
            </a:avLst>
          </a:prstGeom>
          <a:solidFill>
            <a:srgbClr val="D5A6BD"/>
          </a:solidFill>
          <a:ln cap="flat" cmpd="sng" w="9525">
            <a:solidFill>
              <a:srgbClr val="D5A6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aseline="-25000" lang="en-SG">
                <a:latin typeface="Calibri"/>
                <a:ea typeface="Calibri"/>
                <a:cs typeface="Calibri"/>
                <a:sym typeface="Calibri"/>
              </a:rPr>
              <a:t>seg</a:t>
            </a:r>
            <a:endParaRPr baseline="-25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latin typeface="Calibri"/>
                <a:ea typeface="Calibri"/>
                <a:cs typeface="Calibri"/>
                <a:sym typeface="Calibri"/>
              </a:rPr>
              <a:t>(N paired masks from Set A)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8"/>
          <p:cNvCxnSpPr>
            <a:stCxn id="244" idx="0"/>
            <a:endCxn id="242" idx="2"/>
          </p:cNvCxnSpPr>
          <p:nvPr/>
        </p:nvCxnSpPr>
        <p:spPr>
          <a:xfrm rot="10800000">
            <a:off x="8925609" y="2340027"/>
            <a:ext cx="900" cy="47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45" name="Google Shape;2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/>
          <p:nvPr/>
        </p:nvSpPr>
        <p:spPr>
          <a:xfrm>
            <a:off x="5539900" y="3213450"/>
            <a:ext cx="2366700" cy="1377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855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875" lIns="81875" spcFirstLastPara="1" rIns="81875" wrap="square" tIns="8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4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28" title="us_p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3889" y="3505629"/>
            <a:ext cx="791333" cy="79354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48" name="Google Shape;248;p28"/>
          <p:cNvSpPr txBox="1"/>
          <p:nvPr/>
        </p:nvSpPr>
        <p:spPr>
          <a:xfrm>
            <a:off x="6202175" y="3100100"/>
            <a:ext cx="101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US</a:t>
            </a:r>
            <a:endParaRPr sz="14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8"/>
          <p:cNvSpPr txBox="1"/>
          <p:nvPr/>
        </p:nvSpPr>
        <p:spPr>
          <a:xfrm>
            <a:off x="5987651" y="4232825"/>
            <a:ext cx="1471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2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A ultrasounds</a:t>
            </a:r>
            <a:endParaRPr sz="142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9946375" y="3213626"/>
            <a:ext cx="2019900" cy="1377900"/>
          </a:xfrm>
          <a:prstGeom prst="roundRect">
            <a:avLst>
              <a:gd fmla="val 16667" name="adj"/>
            </a:avLst>
          </a:prstGeom>
          <a:solidFill>
            <a:srgbClr val="A4C2F4"/>
          </a:solidFill>
          <a:ln cap="flat" cmpd="sng" w="8550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875" lIns="81875" spcFirstLastPara="1" rIns="81875" wrap="square" tIns="81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4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8"/>
          <p:cNvSpPr txBox="1"/>
          <p:nvPr/>
        </p:nvSpPr>
        <p:spPr>
          <a:xfrm>
            <a:off x="10309275" y="3102050"/>
            <a:ext cx="1356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Domain Mask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10419475" y="4234775"/>
            <a:ext cx="1073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B masks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28" title="us_p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66276" y="3509311"/>
            <a:ext cx="791328" cy="786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 title="mask_p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84869" y="3511925"/>
            <a:ext cx="791283" cy="780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 title="mask_p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12283" y="3506761"/>
            <a:ext cx="791284" cy="791284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8"/>
          <p:cNvSpPr/>
          <p:nvPr/>
        </p:nvSpPr>
        <p:spPr>
          <a:xfrm>
            <a:off x="8248359" y="2815527"/>
            <a:ext cx="1356300" cy="535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8"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aseline="-25000" lang="en-SG" sz="1408">
                <a:latin typeface="Calibri"/>
                <a:ea typeface="Calibri"/>
                <a:cs typeface="Calibri"/>
                <a:sym typeface="Calibri"/>
              </a:rPr>
              <a:t>US-&gt;Mask</a:t>
            </a:r>
            <a:r>
              <a:rPr lang="en-SG" sz="1408">
                <a:latin typeface="Calibri"/>
                <a:ea typeface="Calibri"/>
                <a:cs typeface="Calibri"/>
                <a:sym typeface="Calibri"/>
              </a:rPr>
              <a:t> (UNet++)</a:t>
            </a:r>
            <a:endParaRPr sz="1408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8248359" y="3826474"/>
            <a:ext cx="1356300" cy="535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111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aseline="-25000" lang="en-SG">
                <a:latin typeface="Calibri"/>
                <a:ea typeface="Calibri"/>
                <a:cs typeface="Calibri"/>
                <a:sym typeface="Calibri"/>
              </a:rPr>
              <a:t>Mask-&gt;US</a:t>
            </a:r>
            <a:r>
              <a:rPr lang="en-SG">
                <a:latin typeface="Calibri"/>
                <a:ea typeface="Calibri"/>
                <a:cs typeface="Calibri"/>
                <a:sym typeface="Calibri"/>
              </a:rPr>
              <a:t> (UNet++)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28"/>
          <p:cNvCxnSpPr>
            <a:stCxn id="256" idx="1"/>
          </p:cNvCxnSpPr>
          <p:nvPr/>
        </p:nvCxnSpPr>
        <p:spPr>
          <a:xfrm flipH="1">
            <a:off x="7888959" y="4094224"/>
            <a:ext cx="359400" cy="3543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8"/>
          <p:cNvCxnSpPr>
            <a:stCxn id="244" idx="3"/>
            <a:endCxn id="250" idx="1"/>
          </p:cNvCxnSpPr>
          <p:nvPr/>
        </p:nvCxnSpPr>
        <p:spPr>
          <a:xfrm>
            <a:off x="9604659" y="3083277"/>
            <a:ext cx="341700" cy="8193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9" name="Google Shape;259;p28"/>
          <p:cNvCxnSpPr>
            <a:endCxn id="256" idx="3"/>
          </p:cNvCxnSpPr>
          <p:nvPr/>
        </p:nvCxnSpPr>
        <p:spPr>
          <a:xfrm rot="10800000">
            <a:off x="9604659" y="4094224"/>
            <a:ext cx="344100" cy="2997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0" name="Google Shape;260;p28"/>
          <p:cNvCxnSpPr/>
          <p:nvPr/>
        </p:nvCxnSpPr>
        <p:spPr>
          <a:xfrm>
            <a:off x="8581125" y="3351029"/>
            <a:ext cx="0" cy="4752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8"/>
          <p:cNvCxnSpPr/>
          <p:nvPr/>
        </p:nvCxnSpPr>
        <p:spPr>
          <a:xfrm rot="10800000">
            <a:off x="9241729" y="3351127"/>
            <a:ext cx="0" cy="4752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2" name="Google Shape;262;p28"/>
          <p:cNvSpPr/>
          <p:nvPr/>
        </p:nvSpPr>
        <p:spPr>
          <a:xfrm>
            <a:off x="6045103" y="2280025"/>
            <a:ext cx="1356300" cy="535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117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526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SG" sz="1526"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lang="en-SG" sz="1526">
                <a:latin typeface="Calibri"/>
                <a:ea typeface="Calibri"/>
                <a:cs typeface="Calibri"/>
                <a:sym typeface="Calibri"/>
              </a:rPr>
              <a:t> PatchGAN</a:t>
            </a:r>
            <a:endParaRPr sz="152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10193725" y="2280025"/>
            <a:ext cx="1525200" cy="535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11175">
            <a:solidFill>
              <a:srgbClr val="F9CB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7300" lIns="107300" spcFirstLastPara="1" rIns="107300" wrap="square" tIns="107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aseline="-25000"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r>
              <a:rPr lang="en-S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PatchGAN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28"/>
          <p:cNvCxnSpPr>
            <a:endCxn id="244" idx="1"/>
          </p:cNvCxnSpPr>
          <p:nvPr/>
        </p:nvCxnSpPr>
        <p:spPr>
          <a:xfrm flipH="1" rot="10800000">
            <a:off x="7897959" y="3083277"/>
            <a:ext cx="350400" cy="348900"/>
          </a:xfrm>
          <a:prstGeom prst="straightConnector1">
            <a:avLst/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8"/>
          <p:cNvCxnSpPr>
            <a:stCxn id="256" idx="2"/>
            <a:endCxn id="262" idx="3"/>
          </p:cNvCxnSpPr>
          <p:nvPr/>
        </p:nvCxnSpPr>
        <p:spPr>
          <a:xfrm flipH="1" rot="5400000">
            <a:off x="7256859" y="2692324"/>
            <a:ext cx="1814100" cy="1525200"/>
          </a:xfrm>
          <a:prstGeom prst="curvedConnector4">
            <a:avLst>
              <a:gd fmla="val -13126" name="adj1"/>
              <a:gd fmla="val 72228" name="adj2"/>
            </a:avLst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8"/>
          <p:cNvCxnSpPr>
            <a:stCxn id="244" idx="3"/>
            <a:endCxn id="263" idx="1"/>
          </p:cNvCxnSpPr>
          <p:nvPr/>
        </p:nvCxnSpPr>
        <p:spPr>
          <a:xfrm flipH="1" rot="10800000">
            <a:off x="9604659" y="2547777"/>
            <a:ext cx="589200" cy="535500"/>
          </a:xfrm>
          <a:prstGeom prst="curvedConnector3">
            <a:avLst>
              <a:gd fmla="val 49989" name="adj1"/>
            </a:avLst>
          </a:prstGeom>
          <a:noFill/>
          <a:ln cap="flat" cmpd="sng" w="111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8"/>
          <p:cNvCxnSpPr>
            <a:stCxn id="246" idx="0"/>
            <a:endCxn id="262" idx="2"/>
          </p:cNvCxnSpPr>
          <p:nvPr/>
        </p:nvCxnSpPr>
        <p:spPr>
          <a:xfrm rot="10800000">
            <a:off x="6723250" y="2815650"/>
            <a:ext cx="0" cy="39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8"/>
          <p:cNvCxnSpPr>
            <a:stCxn id="250" idx="0"/>
            <a:endCxn id="263" idx="2"/>
          </p:cNvCxnSpPr>
          <p:nvPr/>
        </p:nvCxnSpPr>
        <p:spPr>
          <a:xfrm rot="10800000">
            <a:off x="10956325" y="2815526"/>
            <a:ext cx="0" cy="39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"/>
          <p:cNvSpPr txBox="1"/>
          <p:nvPr/>
        </p:nvSpPr>
        <p:spPr>
          <a:xfrm>
            <a:off x="819451" y="129746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Complexity</a:t>
            </a:r>
            <a:endParaRPr/>
          </a:p>
        </p:txBody>
      </p:sp>
      <p:sp>
        <p:nvSpPr>
          <p:cNvPr id="274" name="Google Shape;274;p29"/>
          <p:cNvSpPr txBox="1"/>
          <p:nvPr/>
        </p:nvSpPr>
        <p:spPr>
          <a:xfrm>
            <a:off x="1195350" y="2174850"/>
            <a:ext cx="9801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SG" sz="1600">
                <a:solidFill>
                  <a:schemeClr val="dk1"/>
                </a:solidFill>
              </a:rPr>
              <a:t>Each approach is then partitioned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SG" sz="1600">
                <a:solidFill>
                  <a:schemeClr val="dk1"/>
                </a:solidFill>
              </a:rPr>
              <a:t>By complexity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SG" sz="1600">
                <a:solidFill>
                  <a:schemeClr val="dk1"/>
                </a:solidFill>
              </a:rPr>
              <a:t>Multiclass: labels 1-4 (cortex, capsule, medulla, central echo complex), 0 (background)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en-SG" sz="1600">
                <a:solidFill>
                  <a:schemeClr val="dk1"/>
                </a:solidFill>
              </a:rPr>
              <a:t>Binary: labels 1 (kidney), 0 (background)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SG" sz="1600">
                <a:solidFill>
                  <a:schemeClr val="dk1"/>
                </a:solidFill>
              </a:rPr>
              <a:t>Weighted Dice : 0.0 (background), 0.25 (each anatomical region), 1.0 (all kidney)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SG" sz="1600">
                <a:solidFill>
                  <a:schemeClr val="dk1"/>
                </a:solidFill>
              </a:rPr>
              <a:t>Output: thresholding (binary), argmax (multiclass)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75" name="Google Shape;2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/>
          <p:nvPr/>
        </p:nvSpPr>
        <p:spPr>
          <a:xfrm>
            <a:off x="780325" y="1232200"/>
            <a:ext cx="7368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 Details</a:t>
            </a:r>
            <a:endParaRPr/>
          </a:p>
        </p:txBody>
      </p:sp>
      <p:sp>
        <p:nvSpPr>
          <p:cNvPr id="281" name="Google Shape;281;p30"/>
          <p:cNvSpPr txBox="1"/>
          <p:nvPr/>
        </p:nvSpPr>
        <p:spPr>
          <a:xfrm>
            <a:off x="1964225" y="2593150"/>
            <a:ext cx="6516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SG" sz="1600"/>
              <a:t>All models used the </a:t>
            </a:r>
            <a:r>
              <a:rPr lang="en-SG" sz="16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segmentation-models-pytorch</a:t>
            </a:r>
            <a:r>
              <a:rPr lang="en-SG" sz="1600"/>
              <a:t> library </a:t>
            </a:r>
            <a:endParaRPr sz="1600"/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SG" sz="1600"/>
              <a:t>40 (Epochs), 1x10</a:t>
            </a:r>
            <a:r>
              <a:rPr baseline="30000" lang="en-SG" sz="1600"/>
              <a:t>-4 </a:t>
            </a:r>
            <a:r>
              <a:rPr lang="en-SG" sz="1600">
                <a:solidFill>
                  <a:schemeClr val="dk1"/>
                </a:solidFill>
              </a:rPr>
              <a:t>(LR)</a:t>
            </a:r>
            <a:endParaRPr sz="1600">
              <a:solidFill>
                <a:schemeClr val="dk1"/>
              </a:solidFill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SG" sz="1600">
                <a:solidFill>
                  <a:schemeClr val="dk1"/>
                </a:solidFill>
              </a:rPr>
              <a:t>λ</a:t>
            </a:r>
            <a:r>
              <a:rPr baseline="-25000" lang="en-SG" sz="1600">
                <a:solidFill>
                  <a:schemeClr val="dk1"/>
                </a:solidFill>
              </a:rPr>
              <a:t>cyc </a:t>
            </a:r>
            <a:r>
              <a:rPr lang="en-SG" sz="1600">
                <a:solidFill>
                  <a:schemeClr val="dk1"/>
                </a:solidFill>
              </a:rPr>
              <a:t>= 10, λ</a:t>
            </a:r>
            <a:r>
              <a:rPr baseline="-25000" lang="en-SG" sz="1600">
                <a:solidFill>
                  <a:schemeClr val="dk1"/>
                </a:solidFill>
              </a:rPr>
              <a:t>seg</a:t>
            </a:r>
            <a:r>
              <a:rPr lang="en-SG" sz="1600">
                <a:solidFill>
                  <a:schemeClr val="dk1"/>
                </a:solidFill>
              </a:rPr>
              <a:t> = 3, and λ</a:t>
            </a:r>
            <a:r>
              <a:rPr baseline="-25000" lang="en-SG" sz="1600">
                <a:solidFill>
                  <a:schemeClr val="dk1"/>
                </a:solidFill>
              </a:rPr>
              <a:t>id</a:t>
            </a:r>
            <a:r>
              <a:rPr lang="en-SG" sz="1600">
                <a:solidFill>
                  <a:schemeClr val="dk1"/>
                </a:solidFill>
              </a:rPr>
              <a:t> = 5</a:t>
            </a:r>
            <a:endParaRPr sz="1600">
              <a:solidFill>
                <a:schemeClr val="dk1"/>
              </a:solidFill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SG" sz="1600">
                <a:solidFill>
                  <a:schemeClr val="dk1"/>
                </a:solidFill>
              </a:rPr>
              <a:t>Validation = Dice &amp; IOU from per class (tp, fp, tn, fn) </a:t>
            </a:r>
            <a:endParaRPr sz="1600">
              <a:solidFill>
                <a:schemeClr val="dk1"/>
              </a:solidFill>
            </a:endParaRPr>
          </a:p>
          <a:p>
            <a:pPr indent="-2730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SG" sz="1600">
                <a:solidFill>
                  <a:schemeClr val="dk1"/>
                </a:solidFill>
              </a:rPr>
              <a:t>All evaluation used held-out Set A test split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282" name="Google Shape;2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1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1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290" name="Google Shape;290;p31"/>
          <p:cNvSpPr txBox="1"/>
          <p:nvPr/>
        </p:nvSpPr>
        <p:spPr>
          <a:xfrm>
            <a:off x="856300" y="1578350"/>
            <a:ext cx="45846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94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SG" sz="1700">
                <a:solidFill>
                  <a:schemeClr val="dk1"/>
                </a:solidFill>
              </a:rPr>
              <a:t>Fully Supervised (highest overall performance)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SG" sz="1700">
                <a:solidFill>
                  <a:schemeClr val="dk1"/>
                </a:solidFill>
              </a:rPr>
              <a:t>Binary all: 0.90 (Dice), 0.82 (IoU)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SG" sz="1700">
                <a:solidFill>
                  <a:schemeClr val="dk1"/>
                </a:solidFill>
              </a:rPr>
              <a:t>Multiclass all: 0.63 (Dice), 0.47 (IoU)</a:t>
            </a:r>
            <a:endParaRPr sz="1700">
              <a:solidFill>
                <a:schemeClr val="dk1"/>
              </a:solidFill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794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SG" sz="1700">
                <a:solidFill>
                  <a:schemeClr val="dk1"/>
                </a:solidFill>
              </a:rPr>
              <a:t>Unpaired CycleGAN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SG" sz="1700">
                <a:solidFill>
                  <a:schemeClr val="dk1"/>
                </a:solidFill>
              </a:rPr>
              <a:t>Binary all: 0.058 (Dice), 0.030 (IoU)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SG" sz="1700">
                <a:solidFill>
                  <a:schemeClr val="dk1"/>
                </a:solidFill>
              </a:rPr>
              <a:t>Multiclass all: 0.043 (Dice), 0.024 (IoU)</a:t>
            </a:r>
            <a:endParaRPr sz="17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2794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SG" sz="1700">
                <a:solidFill>
                  <a:schemeClr val="dk1"/>
                </a:solidFill>
              </a:rPr>
              <a:t>Semi-Supervised Hybrid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SG" sz="1700">
                <a:solidFill>
                  <a:schemeClr val="dk1"/>
                </a:solidFill>
              </a:rPr>
              <a:t>Binary (N=93): 0.842 (Dice), 0.732 (IOU)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SG" sz="1700">
                <a:solidFill>
                  <a:schemeClr val="dk1"/>
                </a:solidFill>
              </a:rPr>
              <a:t>Multiclass </a:t>
            </a:r>
            <a:r>
              <a:rPr lang="en-SG" sz="1700">
                <a:solidFill>
                  <a:schemeClr val="dk1"/>
                </a:solidFill>
              </a:rPr>
              <a:t>(N=93)</a:t>
            </a:r>
            <a:r>
              <a:rPr lang="en-SG" sz="1700">
                <a:solidFill>
                  <a:schemeClr val="dk1"/>
                </a:solidFill>
              </a:rPr>
              <a:t>: 0.274 (Dice), 0.179(IOU)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291" name="Google Shape;2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075" y="6114698"/>
            <a:ext cx="1634924" cy="477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31" title="Screenshot 2026-04-08 at 2.13.5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475" y="1155206"/>
            <a:ext cx="5029324" cy="4040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2"/>
          <p:cNvSpPr txBox="1"/>
          <p:nvPr/>
        </p:nvSpPr>
        <p:spPr>
          <a:xfrm>
            <a:off x="793375" y="458775"/>
            <a:ext cx="831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</a:t>
            </a:r>
            <a:endParaRPr/>
          </a:p>
        </p:txBody>
      </p:sp>
      <p:pic>
        <p:nvPicPr>
          <p:cNvPr id="300" name="Google Shape;30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1075" y="6114698"/>
            <a:ext cx="1634924" cy="477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2" title="Screenshot 2026-04-08 at 12.37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7338" y="1134350"/>
            <a:ext cx="7705725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3"/>
          <p:cNvSpPr txBox="1"/>
          <p:nvPr/>
        </p:nvSpPr>
        <p:spPr>
          <a:xfrm>
            <a:off x="793389" y="6153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and Future work</a:t>
            </a:r>
            <a:endParaRPr/>
          </a:p>
        </p:txBody>
      </p:sp>
      <p:sp>
        <p:nvSpPr>
          <p:cNvPr id="309" name="Google Shape;309;p33"/>
          <p:cNvSpPr txBox="1"/>
          <p:nvPr/>
        </p:nvSpPr>
        <p:spPr>
          <a:xfrm>
            <a:off x="899425" y="1430600"/>
            <a:ext cx="10082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SG" sz="1600">
                <a:solidFill>
                  <a:schemeClr val="dk1"/>
                </a:solidFill>
              </a:rPr>
              <a:t>A single dataset limited to the kidney anatomy was used, and inter-rater variability between the two annotating sonographers was not evaluated</a:t>
            </a:r>
            <a:r>
              <a:rPr lang="en-SG" sz="18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SG" sz="1600">
                <a:solidFill>
                  <a:schemeClr val="dk1"/>
                </a:solidFill>
              </a:rPr>
              <a:t>Semi supervised formulation could explore alternatives like pseudo labeling and consistency regularization.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10" name="Google Shape;31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4"/>
          <p:cNvSpPr txBox="1"/>
          <p:nvPr/>
        </p:nvSpPr>
        <p:spPr>
          <a:xfrm>
            <a:off x="793389" y="6153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318" name="Google Shape;318;p34"/>
          <p:cNvSpPr txBox="1"/>
          <p:nvPr/>
        </p:nvSpPr>
        <p:spPr>
          <a:xfrm>
            <a:off x="934324" y="1372263"/>
            <a:ext cx="100251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SG" sz="1600">
                <a:solidFill>
                  <a:schemeClr val="dk1"/>
                </a:solidFill>
              </a:rPr>
              <a:t>Use paired datasets when possible</a:t>
            </a:r>
            <a:r>
              <a:rPr lang="en-SG" sz="1600">
                <a:solidFill>
                  <a:schemeClr val="dk1"/>
                </a:solidFill>
              </a:rPr>
              <a:t>; semi supervised hybrid learning improved substantially over unpaired baselines.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SG" sz="1600">
                <a:solidFill>
                  <a:schemeClr val="dk1"/>
                </a:solidFill>
              </a:rPr>
              <a:t>Simpler (i.e. binary) segmentation achieved near-supervised performance with limited labels, while more complex (i.e. multiclass) segmentation did not, confirming that task complexity fundamentally reshapes annotation requirements.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319" name="Google Shape;31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/>
          <p:nvPr/>
        </p:nvSpPr>
        <p:spPr>
          <a:xfrm>
            <a:off x="8280741" y="64396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5"/>
          <p:cNvSpPr txBox="1"/>
          <p:nvPr/>
        </p:nvSpPr>
        <p:spPr>
          <a:xfrm>
            <a:off x="1027075" y="1310875"/>
            <a:ext cx="9145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>
                <a:solidFill>
                  <a:schemeClr val="dk1"/>
                </a:solidFill>
              </a:rPr>
              <a:t>This work was supported by;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SG" sz="1600">
                <a:solidFill>
                  <a:schemeClr val="dk1"/>
                </a:solidFill>
              </a:rPr>
              <a:t>The Natural Sciences and Engineering Research Council of Canada grant </a:t>
            </a:r>
            <a:r>
              <a:rPr lang="en-SG" sz="1600">
                <a:solidFill>
                  <a:schemeClr val="dk1"/>
                </a:solidFill>
              </a:rPr>
              <a:t>R</a:t>
            </a:r>
            <a:r>
              <a:rPr lang="en-SG" sz="1600">
                <a:solidFill>
                  <a:schemeClr val="dk1"/>
                </a:solidFill>
              </a:rPr>
              <a:t>GPIN-2020-05582.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SG" sz="1600">
                <a:solidFill>
                  <a:schemeClr val="dk1"/>
                </a:solidFill>
              </a:rPr>
              <a:t>Black and Indigenous Summer Research Internship (BISRI) program at Carleton University.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SG" sz="1600">
                <a:solidFill>
                  <a:schemeClr val="dk1"/>
                </a:solidFill>
              </a:rPr>
              <a:t>Compute Ontario and the Digital Research Alliance of Canada.</a:t>
            </a:r>
            <a:endParaRPr sz="1600">
              <a:solidFill>
                <a:schemeClr val="dk1"/>
              </a:solidFill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5"/>
          <p:cNvSpPr txBox="1"/>
          <p:nvPr/>
        </p:nvSpPr>
        <p:spPr>
          <a:xfrm>
            <a:off x="793376" y="632012"/>
            <a:ext cx="606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Acknowledgements </a:t>
            </a:r>
            <a:endParaRPr/>
          </a:p>
        </p:txBody>
      </p:sp>
      <p:sp>
        <p:nvSpPr>
          <p:cNvPr id="328" name="Google Shape;328;p35"/>
          <p:cNvSpPr txBox="1"/>
          <p:nvPr/>
        </p:nvSpPr>
        <p:spPr>
          <a:xfrm>
            <a:off x="2253450" y="3067350"/>
            <a:ext cx="7685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3500">
                <a:solidFill>
                  <a:schemeClr val="dk1"/>
                </a:solidFill>
              </a:rPr>
              <a:t>THANK YOU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329" name="Google Shape;329;p35"/>
          <p:cNvSpPr txBox="1"/>
          <p:nvPr/>
        </p:nvSpPr>
        <p:spPr>
          <a:xfrm>
            <a:off x="2214800" y="4060250"/>
            <a:ext cx="7685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Contact the primary author at: </a:t>
            </a:r>
            <a:r>
              <a:rPr lang="en-SG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preciouskolawole@cmail.carleton.ca</a:t>
            </a:r>
            <a:r>
              <a:rPr lang="en-SG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0" name="Google Shape;33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8675" y="5962298"/>
            <a:ext cx="1634924" cy="477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